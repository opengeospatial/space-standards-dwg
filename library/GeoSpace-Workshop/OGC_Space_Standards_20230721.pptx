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403" r:id="rId3"/>
    <p:sldId id="358" r:id="rId4"/>
    <p:sldId id="396" r:id="rId5"/>
    <p:sldId id="397" r:id="rId6"/>
    <p:sldId id="398" r:id="rId7"/>
    <p:sldId id="399" r:id="rId8"/>
    <p:sldId id="400" r:id="rId9"/>
    <p:sldId id="401" r:id="rId10"/>
    <p:sldId id="272" r:id="rId11"/>
    <p:sldId id="261" r:id="rId12"/>
    <p:sldId id="402" r:id="rId13"/>
    <p:sldId id="262" r:id="rId14"/>
    <p:sldId id="263" r:id="rId15"/>
    <p:sldId id="259" r:id="rId16"/>
    <p:sldId id="264" r:id="rId17"/>
    <p:sldId id="271" r:id="rId18"/>
    <p:sldId id="265" r:id="rId19"/>
    <p:sldId id="266" r:id="rId20"/>
    <p:sldId id="267" r:id="rId21"/>
    <p:sldId id="268" r:id="rId22"/>
    <p:sldId id="269" r:id="rId23"/>
    <p:sldId id="357" r:id="rId2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81" d="100"/>
          <a:sy n="81" d="100"/>
        </p:scale>
        <p:origin x="76"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2EE7E9-72EB-4EAB-8476-E47E79583B1A}" type="datetimeFigureOut">
              <a:rPr lang="en-US" smtClean="0"/>
              <a:t>7/21/2023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0E1AF1-4E85-4F80-90E8-A5765C71E54F}" type="slidenum">
              <a:rPr lang="en-US" smtClean="0"/>
              <a:t>‹#›</a:t>
            </a:fld>
            <a:endParaRPr lang="en-US"/>
          </a:p>
        </p:txBody>
      </p:sp>
    </p:spTree>
    <p:extLst>
      <p:ext uri="{BB962C8B-B14F-4D97-AF65-F5344CB8AC3E}">
        <p14:creationId xmlns:p14="http://schemas.microsoft.com/office/powerpoint/2010/main" val="4138594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Whit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3581"/>
            <a:ext cx="10985502" cy="318490"/>
          </a:xfrm>
          <a:prstGeom prst="rect">
            <a:avLst/>
          </a:prstGeom>
        </p:spPr>
        <p:txBody>
          <a:bodyPr lIns="45719" tIns="45719" rIns="45719" bIns="45719"/>
          <a:lstStyle>
            <a:lvl1pPr marL="0" indent="0" defTabSz="412750">
              <a:lnSpc>
                <a:spcPct val="100000"/>
              </a:lnSpc>
              <a:spcBef>
                <a:spcPts val="0"/>
              </a:spcBef>
              <a:buClrTx/>
              <a:buSzTx/>
              <a:buNone/>
              <a:defRPr sz="1800" b="1">
                <a:solidFill>
                  <a:srgbClr val="00B1FF"/>
                </a:solidFill>
              </a:defRPr>
            </a:lvl1pPr>
          </a:lstStyle>
          <a:p>
            <a:r>
              <a:t>Author and Date</a:t>
            </a:r>
          </a:p>
        </p:txBody>
      </p:sp>
      <p:sp>
        <p:nvSpPr>
          <p:cNvPr id="12" name="Presentation Title"/>
          <p:cNvSpPr txBox="1">
            <a:spLocks noGrp="1"/>
          </p:cNvSpPr>
          <p:nvPr>
            <p:ph type="title" hasCustomPrompt="1"/>
          </p:nvPr>
        </p:nvSpPr>
        <p:spPr>
          <a:xfrm>
            <a:off x="603248" y="1287496"/>
            <a:ext cx="7017969" cy="2324101"/>
          </a:xfrm>
          <a:prstGeom prst="rect">
            <a:avLst/>
          </a:prstGeom>
        </p:spPr>
        <p:txBody>
          <a:bodyPr anchor="b"/>
          <a:lstStyle>
            <a:lvl1pPr>
              <a:defRPr sz="5800" spc="-116"/>
            </a:lvl1pPr>
          </a:lstStyle>
          <a:p>
            <a:r>
              <a:t>Presentation Title</a:t>
            </a:r>
          </a:p>
        </p:txBody>
      </p:sp>
      <p:sp>
        <p:nvSpPr>
          <p:cNvPr id="13" name="Body Level One…"/>
          <p:cNvSpPr txBox="1">
            <a:spLocks noGrp="1"/>
          </p:cNvSpPr>
          <p:nvPr>
            <p:ph type="body" sz="quarter" idx="1" hasCustomPrompt="1"/>
          </p:nvPr>
        </p:nvSpPr>
        <p:spPr>
          <a:xfrm>
            <a:off x="600671" y="3605245"/>
            <a:ext cx="10985501" cy="952501"/>
          </a:xfrm>
          <a:prstGeom prst="rect">
            <a:avLst/>
          </a:prstGeom>
        </p:spPr>
        <p:txBody>
          <a:bodyPr/>
          <a:lstStyle>
            <a:lvl1pPr marL="0" indent="0" defTabSz="412750">
              <a:lnSpc>
                <a:spcPct val="100000"/>
              </a:lnSpc>
              <a:spcBef>
                <a:spcPts val="0"/>
              </a:spcBef>
              <a:buClrTx/>
              <a:buSzTx/>
              <a:buNone/>
              <a:defRPr sz="2750" b="1">
                <a:solidFill>
                  <a:srgbClr val="00B1FF"/>
                </a:solidFill>
              </a:defRPr>
            </a:lvl1pPr>
            <a:lvl2pPr marL="0" indent="228600" defTabSz="412750">
              <a:lnSpc>
                <a:spcPct val="100000"/>
              </a:lnSpc>
              <a:spcBef>
                <a:spcPts val="0"/>
              </a:spcBef>
              <a:buClrTx/>
              <a:buSzTx/>
              <a:buNone/>
              <a:defRPr sz="2750" b="1">
                <a:solidFill>
                  <a:srgbClr val="00B1FF"/>
                </a:solidFill>
              </a:defRPr>
            </a:lvl2pPr>
            <a:lvl3pPr marL="0" indent="457200" defTabSz="412750">
              <a:lnSpc>
                <a:spcPct val="100000"/>
              </a:lnSpc>
              <a:spcBef>
                <a:spcPts val="0"/>
              </a:spcBef>
              <a:buClrTx/>
              <a:buSzTx/>
              <a:buNone/>
              <a:defRPr sz="2750" b="1">
                <a:solidFill>
                  <a:srgbClr val="00B1FF"/>
                </a:solidFill>
              </a:defRPr>
            </a:lvl3pPr>
            <a:lvl4pPr marL="0" indent="685800" defTabSz="412750">
              <a:lnSpc>
                <a:spcPct val="100000"/>
              </a:lnSpc>
              <a:spcBef>
                <a:spcPts val="0"/>
              </a:spcBef>
              <a:buClrTx/>
              <a:buSzTx/>
              <a:buNone/>
              <a:defRPr sz="2750" b="1">
                <a:solidFill>
                  <a:srgbClr val="00B1FF"/>
                </a:solidFill>
              </a:defRPr>
            </a:lvl4pPr>
            <a:lvl5pPr marL="0" indent="914400" defTabSz="412750">
              <a:lnSpc>
                <a:spcPct val="100000"/>
              </a:lnSpc>
              <a:spcBef>
                <a:spcPts val="0"/>
              </a:spcBef>
              <a:buClrTx/>
              <a:buSzTx/>
              <a:buNone/>
              <a:defRPr sz="2750" b="1">
                <a:solidFill>
                  <a:srgbClr val="00B1FF"/>
                </a:solidFill>
              </a:defRPr>
            </a:lvl5pPr>
          </a:lstStyle>
          <a:p>
            <a:r>
              <a:t>Presentation Subtitle</a:t>
            </a:r>
          </a:p>
          <a:p>
            <a:pPr lvl="1"/>
            <a:endParaRPr/>
          </a:p>
          <a:p>
            <a:pPr lvl="2"/>
            <a:endParaRPr/>
          </a:p>
          <a:p>
            <a:pPr lvl="3"/>
            <a:endParaRPr/>
          </a:p>
          <a:p>
            <a:pPr lvl="4"/>
            <a:endParaRPr/>
          </a:p>
        </p:txBody>
      </p:sp>
      <p:pic>
        <p:nvPicPr>
          <p:cNvPr id="14" name="Image" descr="Image"/>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977027" y="1195112"/>
            <a:ext cx="5214974" cy="5662889"/>
          </a:xfrm>
          <a:prstGeom prst="rect">
            <a:avLst/>
          </a:prstGeom>
          <a:ln w="12700">
            <a:miter lim="400000"/>
          </a:ln>
        </p:spPr>
      </p:pic>
      <p:pic>
        <p:nvPicPr>
          <p:cNvPr id="15"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187" y="459368"/>
            <a:ext cx="3063455" cy="1560841"/>
          </a:xfrm>
          <a:prstGeom prst="rect">
            <a:avLst/>
          </a:prstGeom>
          <a:ln w="12700">
            <a:miter lim="400000"/>
          </a:ln>
        </p:spPr>
      </p:pic>
      <p:sp>
        <p:nvSpPr>
          <p:cNvPr id="16" name="Slide Number"/>
          <p:cNvSpPr txBox="1">
            <a:spLocks noGrp="1"/>
          </p:cNvSpPr>
          <p:nvPr>
            <p:ph type="sldNum" sz="quarter" idx="2"/>
          </p:nvPr>
        </p:nvSpPr>
        <p:spPr>
          <a:xfrm>
            <a:off x="6000750" y="6486708"/>
            <a:ext cx="243656" cy="241092"/>
          </a:xfrm>
          <a:prstGeom prst="rect">
            <a:avLst/>
          </a:prstGeom>
        </p:spPr>
        <p:txBody>
          <a:bodyPr/>
          <a:lstStyle>
            <a:lvl1pPr>
              <a:defRPr sz="900">
                <a:solidFill>
                  <a:srgbClr val="FFFFFF"/>
                </a:solidFill>
                <a:latin typeface="Helvetica Neue"/>
                <a:ea typeface="Helvetica Neue"/>
                <a:cs typeface="Helvetica Neue"/>
                <a:sym typeface="Helvetica Neue"/>
              </a:defRPr>
            </a:lvl1pPr>
          </a:lstStyle>
          <a:p>
            <a:fld id="{4509CC2E-545E-4D3E-8E41-C577FE4E2E10}" type="slidenum">
              <a:rPr lang="en-US" smtClean="0"/>
              <a:t>‹#›</a:t>
            </a:fld>
            <a:endParaRPr lang="en-US"/>
          </a:p>
        </p:txBody>
      </p:sp>
    </p:spTree>
    <p:extLst>
      <p:ext uri="{BB962C8B-B14F-4D97-AF65-F5344CB8AC3E}">
        <p14:creationId xmlns:p14="http://schemas.microsoft.com/office/powerpoint/2010/main" val="2070677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mp; Bullets">
    <p:spTree>
      <p:nvGrpSpPr>
        <p:cNvPr id="1" name=""/>
        <p:cNvGrpSpPr/>
        <p:nvPr/>
      </p:nvGrpSpPr>
      <p:grpSpPr>
        <a:xfrm>
          <a:off x="0" y="0"/>
          <a:ext cx="0" cy="0"/>
          <a:chOff x="0" y="0"/>
          <a:chExt cx="0" cy="0"/>
        </a:xfrm>
      </p:grpSpPr>
      <p:sp>
        <p:nvSpPr>
          <p:cNvPr id="121" name="Slide Title"/>
          <p:cNvSpPr txBox="1">
            <a:spLocks noGrp="1"/>
          </p:cNvSpPr>
          <p:nvPr>
            <p:ph type="title" hasCustomPrompt="1"/>
          </p:nvPr>
        </p:nvSpPr>
        <p:spPr>
          <a:prstGeom prst="rect">
            <a:avLst/>
          </a:prstGeom>
        </p:spPr>
        <p:txBody>
          <a:bodyPr/>
          <a:lstStyle/>
          <a:p>
            <a:r>
              <a:t>Slide Title</a:t>
            </a:r>
          </a:p>
        </p:txBody>
      </p:sp>
      <p:sp>
        <p:nvSpPr>
          <p:cNvPr id="123" name="Body Level One…"/>
          <p:cNvSpPr txBox="1">
            <a:spLocks noGrp="1"/>
          </p:cNvSpPr>
          <p:nvPr>
            <p:ph type="body" idx="1" hasCustomPrompt="1"/>
          </p:nvPr>
        </p:nvSpPr>
        <p:spPr>
          <a:xfrm>
            <a:off x="603250" y="1392865"/>
            <a:ext cx="10985500" cy="4859393"/>
          </a:xfrm>
          <a:prstGeom prst="rect">
            <a:avLst/>
          </a:prstGeom>
        </p:spPr>
        <p:txBody>
          <a:bodyPr/>
          <a:lstStyle>
            <a:lvl1pPr>
              <a:lnSpc>
                <a:spcPct val="100000"/>
              </a:lnSpc>
              <a:spcBef>
                <a:spcPts val="750"/>
              </a:spcBef>
              <a:defRPr/>
            </a:lvl1pPr>
            <a:lvl2pPr>
              <a:lnSpc>
                <a:spcPct val="100000"/>
              </a:lnSpc>
              <a:spcBef>
                <a:spcPts val="750"/>
              </a:spcBef>
              <a:defRPr/>
            </a:lvl2pPr>
            <a:lvl3pPr>
              <a:lnSpc>
                <a:spcPct val="100000"/>
              </a:lnSpc>
              <a:spcBef>
                <a:spcPts val="750"/>
              </a:spcBef>
              <a:defRPr/>
            </a:lvl3pPr>
            <a:lvl4pPr>
              <a:lnSpc>
                <a:spcPct val="100000"/>
              </a:lnSpc>
              <a:spcBef>
                <a:spcPts val="750"/>
              </a:spcBef>
              <a:defRPr/>
            </a:lvl4pPr>
            <a:lvl5pPr>
              <a:lnSpc>
                <a:spcPct val="100000"/>
              </a:lnSpc>
              <a:spcBef>
                <a:spcPts val="750"/>
              </a:spcBef>
              <a:defRPr/>
            </a:lvl5pPr>
          </a:lstStyle>
          <a:p>
            <a:r>
              <a:t>Slide bullet text</a:t>
            </a:r>
          </a:p>
          <a:p>
            <a:pPr lvl="1"/>
            <a:endParaRPr/>
          </a:p>
          <a:p>
            <a:pPr lvl="2"/>
            <a:endParaRPr/>
          </a:p>
          <a:p>
            <a:pPr lvl="3"/>
            <a:endParaRPr/>
          </a:p>
          <a:p>
            <a:pPr lvl="4"/>
            <a:endParaRPr/>
          </a:p>
        </p:txBody>
      </p:sp>
      <p:sp>
        <p:nvSpPr>
          <p:cNvPr id="124" name="Slide Number"/>
          <p:cNvSpPr txBox="1">
            <a:spLocks noGrp="1"/>
          </p:cNvSpPr>
          <p:nvPr>
            <p:ph type="sldNum" sz="quarter" idx="2"/>
          </p:nvPr>
        </p:nvSpPr>
        <p:spPr>
          <a:prstGeom prst="rect">
            <a:avLst/>
          </a:prstGeom>
        </p:spPr>
        <p:txBody>
          <a:bodyPr/>
          <a:lstStyle/>
          <a:p>
            <a:fld id="{4509CC2E-545E-4D3E-8E41-C577FE4E2E10}" type="slidenum">
              <a:rPr lang="en-US" smtClean="0"/>
              <a:t>‹#›</a:t>
            </a:fld>
            <a:endParaRPr lang="en-US"/>
          </a:p>
        </p:txBody>
      </p:sp>
    </p:spTree>
    <p:extLst>
      <p:ext uri="{BB962C8B-B14F-4D97-AF65-F5344CB8AC3E}">
        <p14:creationId xmlns:p14="http://schemas.microsoft.com/office/powerpoint/2010/main" val="128668101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p:spTree>
      <p:nvGrpSpPr>
        <p:cNvPr id="1" name=""/>
        <p:cNvGrpSpPr/>
        <p:nvPr/>
      </p:nvGrpSpPr>
      <p:grpSpPr>
        <a:xfrm>
          <a:off x="0" y="0"/>
          <a:ext cx="0" cy="0"/>
          <a:chOff x="0" y="0"/>
          <a:chExt cx="0" cy="0"/>
        </a:xfrm>
      </p:grpSpPr>
      <p:pic>
        <p:nvPicPr>
          <p:cNvPr id="8" name="Image" descr="Image">
            <a:extLst>
              <a:ext uri="{FF2B5EF4-FFF2-40B4-BE49-F238E27FC236}">
                <a16:creationId xmlns:a16="http://schemas.microsoft.com/office/drawing/2014/main" id="{52B0C06E-0977-954B-BAB3-30BEF9D862DD}"/>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1" y="-7623"/>
            <a:ext cx="12290062" cy="68664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142" name="Slide Number"/>
          <p:cNvSpPr txBox="1">
            <a:spLocks noGrp="1"/>
          </p:cNvSpPr>
          <p:nvPr>
            <p:ph type="sldNum" sz="quarter" idx="2"/>
          </p:nvPr>
        </p:nvSpPr>
        <p:spPr>
          <a:xfrm>
            <a:off x="6000750" y="6488825"/>
            <a:ext cx="243656" cy="241092"/>
          </a:xfrm>
          <a:prstGeom prst="rect">
            <a:avLst/>
          </a:prstGeom>
        </p:spPr>
        <p:txBody>
          <a:bodyPr/>
          <a:lstStyle>
            <a:lvl1pPr>
              <a:defRPr sz="900">
                <a:solidFill>
                  <a:srgbClr val="FFFFFF"/>
                </a:solidFill>
                <a:latin typeface="Helvetica Neue"/>
                <a:ea typeface="Helvetica Neue"/>
                <a:cs typeface="Helvetica Neue"/>
                <a:sym typeface="Helvetica Neue"/>
              </a:defRPr>
            </a:lvl1pPr>
          </a:lstStyle>
          <a:p>
            <a:fld id="{4509CC2E-545E-4D3E-8E41-C577FE4E2E10}" type="slidenum">
              <a:rPr lang="en-US" smtClean="0"/>
              <a:t>‹#›</a:t>
            </a:fld>
            <a:endParaRPr lang="en-US"/>
          </a:p>
        </p:txBody>
      </p:sp>
      <p:sp>
        <p:nvSpPr>
          <p:cNvPr id="141" name="Section Title"/>
          <p:cNvSpPr txBox="1">
            <a:spLocks noGrp="1"/>
          </p:cNvSpPr>
          <p:nvPr>
            <p:ph type="title" hasCustomPrompt="1"/>
          </p:nvPr>
        </p:nvSpPr>
        <p:spPr>
          <a:xfrm>
            <a:off x="603248" y="2266950"/>
            <a:ext cx="10985502" cy="2324100"/>
          </a:xfrm>
          <a:prstGeom prst="rect">
            <a:avLst/>
          </a:prstGeom>
        </p:spPr>
        <p:txBody>
          <a:bodyPr anchor="ctr"/>
          <a:lstStyle>
            <a:lvl1pPr>
              <a:defRPr sz="5800" spc="-116">
                <a:solidFill>
                  <a:srgbClr val="FFFFFF"/>
                </a:solidFill>
              </a:defRPr>
            </a:lvl1pPr>
          </a:lstStyle>
          <a:p>
            <a:r>
              <a:t>Section Title</a:t>
            </a:r>
          </a:p>
        </p:txBody>
      </p:sp>
    </p:spTree>
    <p:extLst>
      <p:ext uri="{BB962C8B-B14F-4D97-AF65-F5344CB8AC3E}">
        <p14:creationId xmlns:p14="http://schemas.microsoft.com/office/powerpoint/2010/main" val="109109805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cSld name="End Slide">
    <p:spTree>
      <p:nvGrpSpPr>
        <p:cNvPr id="1" name=""/>
        <p:cNvGrpSpPr/>
        <p:nvPr/>
      </p:nvGrpSpPr>
      <p:grpSpPr>
        <a:xfrm>
          <a:off x="0" y="0"/>
          <a:ext cx="0" cy="0"/>
          <a:chOff x="0" y="0"/>
          <a:chExt cx="0" cy="0"/>
        </a:xfrm>
      </p:grpSpPr>
      <p:pic>
        <p:nvPicPr>
          <p:cNvPr id="238" name="3D Mark.png" descr="3D Mark.png"/>
          <p:cNvPicPr>
            <a:picLocks noChangeAspect="1"/>
          </p:cNvPicPr>
          <p:nvPr/>
        </p:nvPicPr>
        <p:blipFill>
          <a:blip r:embed="rId2" cstate="screen">
            <a:alphaModFix amt="28042"/>
            <a:extLst>
              <a:ext uri="{28A0092B-C50C-407E-A947-70E740481C1C}">
                <a14:useLocalDpi xmlns:a14="http://schemas.microsoft.com/office/drawing/2010/main"/>
              </a:ext>
            </a:extLst>
          </a:blip>
          <a:stretch>
            <a:fillRect/>
          </a:stretch>
        </p:blipFill>
        <p:spPr>
          <a:xfrm>
            <a:off x="7958172" y="428154"/>
            <a:ext cx="4196667" cy="4196668"/>
          </a:xfrm>
          <a:prstGeom prst="rect">
            <a:avLst/>
          </a:prstGeom>
          <a:ln w="12700">
            <a:miter lim="400000"/>
          </a:ln>
        </p:spPr>
      </p:pic>
      <p:sp>
        <p:nvSpPr>
          <p:cNvPr id="240" name="Thank You"/>
          <p:cNvSpPr txBox="1">
            <a:spLocks noGrp="1"/>
          </p:cNvSpPr>
          <p:nvPr>
            <p:ph type="body" sz="quarter" idx="22" hasCustomPrompt="1"/>
          </p:nvPr>
        </p:nvSpPr>
        <p:spPr>
          <a:xfrm>
            <a:off x="5671985" y="613985"/>
            <a:ext cx="4889501" cy="717551"/>
          </a:xfrm>
          <a:prstGeom prst="rect">
            <a:avLst/>
          </a:prstGeom>
        </p:spPr>
        <p:txBody>
          <a:bodyPr/>
          <a:lstStyle>
            <a:lvl1pPr marL="0" indent="0">
              <a:lnSpc>
                <a:spcPct val="80000"/>
              </a:lnSpc>
              <a:spcBef>
                <a:spcPts val="0"/>
              </a:spcBef>
              <a:buClrTx/>
              <a:buSzTx/>
              <a:buNone/>
              <a:defRPr sz="4250" b="1" spc="-85">
                <a:solidFill>
                  <a:srgbClr val="00B1FF"/>
                </a:solidFill>
              </a:defRPr>
            </a:lvl1pPr>
          </a:lstStyle>
          <a:p>
            <a:r>
              <a:rPr dirty="0"/>
              <a:t>Thank You</a:t>
            </a:r>
          </a:p>
        </p:txBody>
      </p:sp>
      <p:sp>
        <p:nvSpPr>
          <p:cNvPr id="241" name="Rectangle"/>
          <p:cNvSpPr/>
          <p:nvPr/>
        </p:nvSpPr>
        <p:spPr>
          <a:xfrm>
            <a:off x="5671985" y="1426897"/>
            <a:ext cx="1784698" cy="75847"/>
          </a:xfrm>
          <a:prstGeom prst="rect">
            <a:avLst/>
          </a:prstGeom>
          <a:solidFill>
            <a:srgbClr val="00B1FF"/>
          </a:solidFill>
          <a:ln w="12700">
            <a:miter lim="400000"/>
          </a:ln>
        </p:spPr>
        <p:txBody>
          <a:bodyPr lIns="25400" tIns="25400" rIns="25400" bIns="25400" anchor="ctr"/>
          <a:lstStyle/>
          <a:p>
            <a:pPr defTabSz="412750">
              <a:defRPr sz="3200">
                <a:solidFill>
                  <a:srgbClr val="FFFFFF"/>
                </a:solidFill>
                <a:latin typeface="Helvetica Neue Medium"/>
                <a:ea typeface="Helvetica Neue Medium"/>
                <a:cs typeface="Helvetica Neue Medium"/>
                <a:sym typeface="Helvetica Neue Medium"/>
              </a:defRPr>
            </a:pPr>
            <a:endParaRPr sz="1600"/>
          </a:p>
        </p:txBody>
      </p:sp>
      <p:sp>
        <p:nvSpPr>
          <p:cNvPr id="242" name="Community"/>
          <p:cNvSpPr txBox="1">
            <a:spLocks noGrp="1"/>
          </p:cNvSpPr>
          <p:nvPr>
            <p:ph type="body" sz="quarter" idx="23"/>
          </p:nvPr>
        </p:nvSpPr>
        <p:spPr>
          <a:xfrm>
            <a:off x="5669701" y="1598106"/>
            <a:ext cx="4889501" cy="383170"/>
          </a:xfrm>
          <a:prstGeom prst="rect">
            <a:avLst/>
          </a:prstGeom>
        </p:spPr>
        <p:txBody>
          <a:bodyPr lIns="45719" tIns="45719" rIns="45719" bIns="45719"/>
          <a:lstStyle>
            <a:lvl1pPr marL="0" indent="0" defTabSz="412750">
              <a:lnSpc>
                <a:spcPct val="100000"/>
              </a:lnSpc>
              <a:spcBef>
                <a:spcPts val="0"/>
              </a:spcBef>
              <a:buClrTx/>
              <a:buSzTx/>
              <a:buNone/>
              <a:defRPr sz="2250" b="1">
                <a:solidFill>
                  <a:srgbClr val="262626"/>
                </a:solidFill>
              </a:defRPr>
            </a:lvl1pPr>
          </a:lstStyle>
          <a:p>
            <a:pPr lvl="0"/>
            <a:r>
              <a:rPr lang="en-US"/>
              <a:t>Click to edit Master text styles</a:t>
            </a:r>
          </a:p>
        </p:txBody>
      </p:sp>
      <p:sp>
        <p:nvSpPr>
          <p:cNvPr id="243" name="500+ International Members…"/>
          <p:cNvSpPr txBox="1"/>
          <p:nvPr/>
        </p:nvSpPr>
        <p:spPr>
          <a:xfrm>
            <a:off x="5669701" y="1952090"/>
            <a:ext cx="5219927" cy="15347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algn="l" defTabSz="228600">
              <a:lnSpc>
                <a:spcPct val="140000"/>
              </a:lnSpc>
              <a:defRPr sz="2000">
                <a:latin typeface="+mn-lt"/>
                <a:ea typeface="+mn-ea"/>
                <a:cs typeface="+mn-cs"/>
                <a:sym typeface="Arial"/>
              </a:defRPr>
            </a:pPr>
            <a:r>
              <a:rPr sz="1000" dirty="0"/>
              <a:t>500+ International Members</a:t>
            </a:r>
          </a:p>
          <a:p>
            <a:pPr algn="l" defTabSz="228600">
              <a:lnSpc>
                <a:spcPct val="140000"/>
              </a:lnSpc>
              <a:defRPr sz="2000">
                <a:latin typeface="+mn-lt"/>
                <a:ea typeface="+mn-ea"/>
                <a:cs typeface="+mn-cs"/>
                <a:sym typeface="Arial"/>
              </a:defRPr>
            </a:pPr>
            <a:r>
              <a:rPr sz="1000" dirty="0"/>
              <a:t>110+ Member Meetings</a:t>
            </a:r>
          </a:p>
          <a:p>
            <a:pPr algn="l" defTabSz="228600">
              <a:lnSpc>
                <a:spcPct val="140000"/>
              </a:lnSpc>
              <a:defRPr sz="2000">
                <a:latin typeface="+mn-lt"/>
                <a:ea typeface="+mn-ea"/>
                <a:cs typeface="+mn-cs"/>
                <a:sym typeface="Arial"/>
              </a:defRPr>
            </a:pPr>
            <a:r>
              <a:rPr sz="1000" dirty="0"/>
              <a:t>60+ Alliance and Liaison partners</a:t>
            </a:r>
          </a:p>
          <a:p>
            <a:pPr algn="l" defTabSz="228600">
              <a:lnSpc>
                <a:spcPct val="140000"/>
              </a:lnSpc>
              <a:defRPr sz="2000">
                <a:latin typeface="+mn-lt"/>
                <a:ea typeface="+mn-ea"/>
                <a:cs typeface="+mn-cs"/>
                <a:sym typeface="Arial"/>
              </a:defRPr>
            </a:pPr>
            <a:r>
              <a:rPr sz="1000" dirty="0"/>
              <a:t>50+ Standards Working Groups</a:t>
            </a:r>
          </a:p>
          <a:p>
            <a:pPr algn="l" defTabSz="228600">
              <a:lnSpc>
                <a:spcPct val="140000"/>
              </a:lnSpc>
              <a:defRPr sz="2000">
                <a:latin typeface="+mn-lt"/>
                <a:ea typeface="+mn-ea"/>
                <a:cs typeface="+mn-cs"/>
                <a:sym typeface="Arial"/>
              </a:defRPr>
            </a:pPr>
            <a:r>
              <a:rPr sz="1000" dirty="0"/>
              <a:t>45+ Domain Working Groups</a:t>
            </a:r>
          </a:p>
          <a:p>
            <a:pPr algn="l" defTabSz="228600">
              <a:lnSpc>
                <a:spcPct val="140000"/>
              </a:lnSpc>
              <a:defRPr sz="2000">
                <a:latin typeface="+mn-lt"/>
                <a:ea typeface="+mn-ea"/>
                <a:cs typeface="+mn-cs"/>
                <a:sym typeface="Arial"/>
              </a:defRPr>
            </a:pPr>
            <a:r>
              <a:rPr sz="1000" dirty="0"/>
              <a:t>25+ Years of Not for Profit Work</a:t>
            </a:r>
            <a:br>
              <a:rPr sz="1000" dirty="0"/>
            </a:br>
            <a:r>
              <a:rPr sz="1000" dirty="0"/>
              <a:t>10+ Regional and Country Forums</a:t>
            </a:r>
          </a:p>
        </p:txBody>
      </p:sp>
      <p:sp>
        <p:nvSpPr>
          <p:cNvPr id="244" name="Innovation"/>
          <p:cNvSpPr txBox="1"/>
          <p:nvPr/>
        </p:nvSpPr>
        <p:spPr>
          <a:xfrm>
            <a:off x="5669701" y="3567852"/>
            <a:ext cx="4889501" cy="3831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normAutofit fontScale="92500" lnSpcReduction="10000"/>
          </a:bodyPr>
          <a:lstStyle>
            <a:lvl1pPr algn="l" defTabSz="825500">
              <a:defRPr sz="4500" b="1">
                <a:latin typeface="+mn-lt"/>
                <a:ea typeface="+mn-ea"/>
                <a:cs typeface="+mn-cs"/>
                <a:sym typeface="Arial"/>
              </a:defRPr>
            </a:lvl1pPr>
          </a:lstStyle>
          <a:p>
            <a:r>
              <a:rPr sz="2250" dirty="0"/>
              <a:t>Innovation</a:t>
            </a:r>
          </a:p>
        </p:txBody>
      </p:sp>
      <p:sp>
        <p:nvSpPr>
          <p:cNvPr id="245" name="120+ Innovation Initiatives…"/>
          <p:cNvSpPr txBox="1"/>
          <p:nvPr/>
        </p:nvSpPr>
        <p:spPr>
          <a:xfrm>
            <a:off x="5669701" y="3989195"/>
            <a:ext cx="5219927" cy="672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algn="l" defTabSz="228600">
              <a:lnSpc>
                <a:spcPct val="140000"/>
              </a:lnSpc>
              <a:defRPr sz="2000">
                <a:latin typeface="+mn-lt"/>
                <a:ea typeface="+mn-ea"/>
                <a:cs typeface="+mn-cs"/>
                <a:sym typeface="Arial"/>
              </a:defRPr>
            </a:pPr>
            <a:r>
              <a:rPr sz="1000"/>
              <a:t>120+ Innovation Initiatives</a:t>
            </a:r>
          </a:p>
          <a:p>
            <a:pPr algn="l" defTabSz="228600">
              <a:lnSpc>
                <a:spcPct val="140000"/>
              </a:lnSpc>
              <a:defRPr sz="2000">
                <a:latin typeface="+mn-lt"/>
                <a:ea typeface="+mn-ea"/>
                <a:cs typeface="+mn-cs"/>
                <a:sym typeface="Arial"/>
              </a:defRPr>
            </a:pPr>
            <a:r>
              <a:rPr sz="1000"/>
              <a:t>380+ Technical reports</a:t>
            </a:r>
          </a:p>
          <a:p>
            <a:pPr algn="l" defTabSz="228600">
              <a:lnSpc>
                <a:spcPct val="140000"/>
              </a:lnSpc>
              <a:defRPr sz="2000">
                <a:latin typeface="+mn-lt"/>
                <a:ea typeface="+mn-ea"/>
                <a:cs typeface="+mn-cs"/>
                <a:sym typeface="Arial"/>
              </a:defRPr>
            </a:pPr>
            <a:r>
              <a:rPr sz="1000"/>
              <a:t>Quarterly Tech Trends monitoring</a:t>
            </a:r>
          </a:p>
        </p:txBody>
      </p:sp>
      <p:sp>
        <p:nvSpPr>
          <p:cNvPr id="246" name="Standards"/>
          <p:cNvSpPr txBox="1"/>
          <p:nvPr/>
        </p:nvSpPr>
        <p:spPr>
          <a:xfrm>
            <a:off x="5669701" y="4734382"/>
            <a:ext cx="4889501" cy="38317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 rIns="22860">
            <a:normAutofit fontScale="92500" lnSpcReduction="10000"/>
          </a:bodyPr>
          <a:lstStyle>
            <a:lvl1pPr algn="l" defTabSz="825500">
              <a:defRPr sz="4500" b="1">
                <a:latin typeface="+mn-lt"/>
                <a:ea typeface="+mn-ea"/>
                <a:cs typeface="+mn-cs"/>
                <a:sym typeface="Arial"/>
              </a:defRPr>
            </a:lvl1pPr>
          </a:lstStyle>
          <a:p>
            <a:r>
              <a:rPr sz="2250" dirty="0"/>
              <a:t>Standards</a:t>
            </a:r>
          </a:p>
        </p:txBody>
      </p:sp>
      <p:sp>
        <p:nvSpPr>
          <p:cNvPr id="247" name="65+ Adopted Standards…"/>
          <p:cNvSpPr txBox="1"/>
          <p:nvPr/>
        </p:nvSpPr>
        <p:spPr>
          <a:xfrm>
            <a:off x="5669701" y="5183479"/>
            <a:ext cx="5219927" cy="8883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p>
            <a:pPr algn="l" defTabSz="228600">
              <a:lnSpc>
                <a:spcPct val="140000"/>
              </a:lnSpc>
              <a:defRPr sz="2000">
                <a:latin typeface="+mn-lt"/>
                <a:ea typeface="+mn-ea"/>
                <a:cs typeface="+mn-cs"/>
                <a:sym typeface="Arial"/>
              </a:defRPr>
            </a:pPr>
            <a:r>
              <a:rPr sz="1000" dirty="0"/>
              <a:t>65+ Adopted Standards</a:t>
            </a:r>
          </a:p>
          <a:p>
            <a:pPr algn="l" defTabSz="228600">
              <a:lnSpc>
                <a:spcPct val="140000"/>
              </a:lnSpc>
              <a:defRPr sz="2000">
                <a:latin typeface="+mn-lt"/>
                <a:ea typeface="+mn-ea"/>
                <a:cs typeface="+mn-cs"/>
                <a:sym typeface="Arial"/>
              </a:defRPr>
            </a:pPr>
            <a:r>
              <a:rPr sz="1000" dirty="0"/>
              <a:t>300+ products with 1000+ certified implementations</a:t>
            </a:r>
          </a:p>
          <a:p>
            <a:pPr algn="l" defTabSz="228600">
              <a:lnSpc>
                <a:spcPct val="140000"/>
              </a:lnSpc>
              <a:defRPr sz="2000">
                <a:latin typeface="+mn-lt"/>
                <a:ea typeface="+mn-ea"/>
                <a:cs typeface="+mn-cs"/>
                <a:sym typeface="Arial"/>
              </a:defRPr>
            </a:pPr>
            <a:r>
              <a:rPr sz="1000" dirty="0"/>
              <a:t>1,700,000+ Operational Data Sets </a:t>
            </a:r>
            <a:br>
              <a:rPr sz="1000" dirty="0"/>
            </a:br>
            <a:r>
              <a:rPr sz="1000" dirty="0"/>
              <a:t>Using OGC Standards</a:t>
            </a:r>
          </a:p>
        </p:txBody>
      </p:sp>
      <p:pic>
        <p:nvPicPr>
          <p:cNvPr id="248" name="OGC Mark.pdf" descr="OGC Mark.pdf"/>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9872" y="6187338"/>
            <a:ext cx="287143" cy="323951"/>
          </a:xfrm>
          <a:prstGeom prst="rect">
            <a:avLst/>
          </a:prstGeom>
          <a:ln w="12700">
            <a:miter lim="400000"/>
          </a:ln>
        </p:spPr>
      </p:pic>
      <p:sp>
        <p:nvSpPr>
          <p:cNvPr id="249" name="Copyright © 2021 Open Geospatial Consortium"/>
          <p:cNvSpPr txBox="1"/>
          <p:nvPr/>
        </p:nvSpPr>
        <p:spPr>
          <a:xfrm>
            <a:off x="1029224" y="6228287"/>
            <a:ext cx="5219928" cy="2420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lgn="l" defTabSz="457200">
              <a:lnSpc>
                <a:spcPct val="140000"/>
              </a:lnSpc>
              <a:defRPr sz="2000">
                <a:solidFill>
                  <a:srgbClr val="002060"/>
                </a:solidFill>
                <a:latin typeface="+mn-lt"/>
                <a:ea typeface="+mn-ea"/>
                <a:cs typeface="+mn-cs"/>
                <a:sym typeface="Arial"/>
              </a:defRPr>
            </a:lvl1pPr>
          </a:lstStyle>
          <a:p>
            <a:r>
              <a:rPr sz="1000" dirty="0"/>
              <a:t>Copyright © 202</a:t>
            </a:r>
            <a:r>
              <a:rPr lang="en-US" sz="1000" dirty="0"/>
              <a:t>2</a:t>
            </a:r>
            <a:r>
              <a:rPr sz="1000" dirty="0"/>
              <a:t> Open Geospatial Consortium</a:t>
            </a:r>
          </a:p>
        </p:txBody>
      </p:sp>
      <p:sp>
        <p:nvSpPr>
          <p:cNvPr id="250" name="Slide Number"/>
          <p:cNvSpPr txBox="1">
            <a:spLocks noGrp="1"/>
          </p:cNvSpPr>
          <p:nvPr>
            <p:ph type="sldNum" sz="quarter" idx="2"/>
          </p:nvPr>
        </p:nvSpPr>
        <p:spPr>
          <a:xfrm>
            <a:off x="5969044" y="6432847"/>
            <a:ext cx="298159" cy="294953"/>
          </a:xfrm>
          <a:prstGeom prst="rect">
            <a:avLst/>
          </a:prstGeom>
        </p:spPr>
        <p:txBody>
          <a:bodyPr/>
          <a:lstStyle>
            <a:lvl1pPr>
              <a:defRPr>
                <a:latin typeface="+mj-lt"/>
              </a:defRPr>
            </a:lvl1pPr>
          </a:lstStyle>
          <a:p>
            <a:fld id="{4509CC2E-545E-4D3E-8E41-C577FE4E2E10}" type="slidenum">
              <a:rPr lang="en-US" smtClean="0"/>
              <a:t>‹#›</a:t>
            </a:fld>
            <a:endParaRPr lang="en-US"/>
          </a:p>
        </p:txBody>
      </p:sp>
    </p:spTree>
    <p:extLst>
      <p:ext uri="{BB962C8B-B14F-4D97-AF65-F5344CB8AC3E}">
        <p14:creationId xmlns:p14="http://schemas.microsoft.com/office/powerpoint/2010/main" val="303413555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defRPr sz="2200"/>
            </a:lvl2pPr>
            <a:lvl3pPr>
              <a:defRPr sz="2000"/>
            </a:lvl3pPr>
            <a:lvl4pPr>
              <a:defRPr sz="18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6">
            <a:extLst>
              <a:ext uri="{FF2B5EF4-FFF2-40B4-BE49-F238E27FC236}">
                <a16:creationId xmlns:a16="http://schemas.microsoft.com/office/drawing/2014/main" id="{9CC31B8C-D1BF-8D47-A3EB-AE9638A04711}"/>
              </a:ext>
            </a:extLst>
          </p:cNvPr>
          <p:cNvSpPr>
            <a:spLocks noGrp="1" noChangeArrowheads="1"/>
          </p:cNvSpPr>
          <p:nvPr>
            <p:ph type="sldNum" sz="quarter" idx="11"/>
          </p:nvPr>
        </p:nvSpPr>
        <p:spPr>
          <a:xfrm>
            <a:off x="5972651" y="6432847"/>
            <a:ext cx="291747" cy="294953"/>
          </a:xfrm>
          <a:ln/>
        </p:spPr>
        <p:txBody>
          <a:bodyPr/>
          <a:lstStyle>
            <a:lvl1pPr>
              <a:defRPr/>
            </a:lvl1pPr>
          </a:lstStyle>
          <a:p>
            <a:fld id="{4509CC2E-545E-4D3E-8E41-C577FE4E2E10}" type="slidenum">
              <a:rPr lang="en-US" smtClean="0"/>
              <a:t>‹#›</a:t>
            </a:fld>
            <a:endParaRPr lang="en-US"/>
          </a:p>
        </p:txBody>
      </p:sp>
    </p:spTree>
    <p:extLst>
      <p:ext uri="{BB962C8B-B14F-4D97-AF65-F5344CB8AC3E}">
        <p14:creationId xmlns:p14="http://schemas.microsoft.com/office/powerpoint/2010/main" val="584407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121" name="Slide Title"/>
          <p:cNvSpPr txBox="1">
            <a:spLocks noGrp="1"/>
          </p:cNvSpPr>
          <p:nvPr>
            <p:ph type="title" hasCustomPrompt="1"/>
          </p:nvPr>
        </p:nvSpPr>
        <p:spPr>
          <a:prstGeom prst="rect">
            <a:avLst/>
          </a:prstGeom>
        </p:spPr>
        <p:txBody>
          <a:bodyPr/>
          <a:lstStyle/>
          <a:p>
            <a:r>
              <a:t>Slide Title</a:t>
            </a:r>
          </a:p>
        </p:txBody>
      </p:sp>
      <p:sp>
        <p:nvSpPr>
          <p:cNvPr id="122" name="Slide Subtitle"/>
          <p:cNvSpPr txBox="1">
            <a:spLocks noGrp="1"/>
          </p:cNvSpPr>
          <p:nvPr>
            <p:ph type="body" sz="quarter" idx="21" hasCustomPrompt="1"/>
          </p:nvPr>
        </p:nvSpPr>
        <p:spPr>
          <a:xfrm>
            <a:off x="603250" y="1337413"/>
            <a:ext cx="10985500" cy="467390"/>
          </a:xfrm>
          <a:prstGeom prst="rect">
            <a:avLst/>
          </a:prstGeom>
        </p:spPr>
        <p:txBody>
          <a:bodyPr lIns="45719" tIns="45719" rIns="45719" bIns="45719"/>
          <a:lstStyle>
            <a:lvl1pPr marL="0" indent="0" defTabSz="412750">
              <a:lnSpc>
                <a:spcPct val="100000"/>
              </a:lnSpc>
              <a:spcBef>
                <a:spcPts val="0"/>
              </a:spcBef>
              <a:buClrTx/>
              <a:buSzTx/>
              <a:buNone/>
              <a:defRPr sz="2750" b="1">
                <a:solidFill>
                  <a:srgbClr val="262626"/>
                </a:solidFill>
              </a:defRPr>
            </a:lvl1pPr>
          </a:lstStyle>
          <a:p>
            <a:r>
              <a:t>Slide Subtitle</a:t>
            </a:r>
          </a:p>
        </p:txBody>
      </p:sp>
      <p:sp>
        <p:nvSpPr>
          <p:cNvPr id="1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124" name="Slide Number"/>
          <p:cNvSpPr txBox="1">
            <a:spLocks noGrp="1"/>
          </p:cNvSpPr>
          <p:nvPr>
            <p:ph type="sldNum" sz="quarter" idx="2"/>
          </p:nvPr>
        </p:nvSpPr>
        <p:spPr>
          <a:prstGeom prst="rect">
            <a:avLst/>
          </a:prstGeom>
        </p:spPr>
        <p:txBody>
          <a:bodyPr/>
          <a:lstStyle/>
          <a:p>
            <a:fld id="{4509CC2E-545E-4D3E-8E41-C577FE4E2E10}" type="slidenum">
              <a:rPr lang="en-US" smtClean="0"/>
              <a:t>‹#›</a:t>
            </a:fld>
            <a:endParaRPr lang="en-US"/>
          </a:p>
        </p:txBody>
      </p:sp>
    </p:spTree>
    <p:extLst>
      <p:ext uri="{BB962C8B-B14F-4D97-AF65-F5344CB8AC3E}">
        <p14:creationId xmlns:p14="http://schemas.microsoft.com/office/powerpoint/2010/main" val="45871489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ontent Maste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052092-82D1-461F-807E-84F5B15DC599}"/>
              </a:ext>
            </a:extLst>
          </p:cNvPr>
          <p:cNvSpPr>
            <a:spLocks noGrp="1"/>
          </p:cNvSpPr>
          <p:nvPr>
            <p:ph idx="1"/>
          </p:nvPr>
        </p:nvSpPr>
        <p:spPr/>
        <p:txBody>
          <a:bodyPr/>
          <a:lstStyle>
            <a:lvl1pPr>
              <a:lnSpc>
                <a:spcPct val="100000"/>
              </a:lnSpc>
              <a:spcBef>
                <a:spcPts val="0"/>
              </a:spcBef>
              <a:spcAft>
                <a:spcPts val="600"/>
              </a:spcAft>
              <a:defRPr/>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Slide Number Placeholder 5">
            <a:extLst>
              <a:ext uri="{FF2B5EF4-FFF2-40B4-BE49-F238E27FC236}">
                <a16:creationId xmlns:a16="http://schemas.microsoft.com/office/drawing/2014/main" id="{026E5D17-F33D-4327-A7B8-A6331A0F7B37}"/>
              </a:ext>
            </a:extLst>
          </p:cNvPr>
          <p:cNvSpPr>
            <a:spLocks noGrp="1"/>
          </p:cNvSpPr>
          <p:nvPr>
            <p:ph type="sldNum" sz="quarter" idx="4"/>
          </p:nvPr>
        </p:nvSpPr>
        <p:spPr>
          <a:xfrm>
            <a:off x="11585784" y="6549075"/>
            <a:ext cx="360997" cy="276999"/>
          </a:xfrm>
          <a:prstGeom prst="rect">
            <a:avLst/>
          </a:prstGeom>
        </p:spPr>
        <p:txBody>
          <a:bodyPr vert="horz" lIns="91440" tIns="45720" rIns="91440" bIns="45720" rtlCol="0" anchor="ctr"/>
          <a:lstStyle>
            <a:lvl1pPr algn="r">
              <a:defRPr sz="1200" b="0">
                <a:solidFill>
                  <a:schemeClr val="bg1">
                    <a:lumMod val="95000"/>
                  </a:schemeClr>
                </a:solidFill>
                <a:latin typeface="Lato" panose="020F0502020204030203" pitchFamily="34" charset="0"/>
              </a:defRPr>
            </a:lvl1pPr>
          </a:lstStyle>
          <a:p>
            <a:fld id="{4509CC2E-545E-4D3E-8E41-C577FE4E2E10}" type="slidenum">
              <a:rPr lang="en-US" smtClean="0"/>
              <a:t>‹#›</a:t>
            </a:fld>
            <a:endParaRPr lang="en-US"/>
          </a:p>
        </p:txBody>
      </p:sp>
      <p:sp>
        <p:nvSpPr>
          <p:cNvPr id="5" name="Title Placeholder 1">
            <a:extLst>
              <a:ext uri="{FF2B5EF4-FFF2-40B4-BE49-F238E27FC236}">
                <a16:creationId xmlns:a16="http://schemas.microsoft.com/office/drawing/2014/main" id="{DA4D5ED7-4916-4EF5-9B14-DD6D0EE6D4A9}"/>
              </a:ext>
            </a:extLst>
          </p:cNvPr>
          <p:cNvSpPr>
            <a:spLocks noGrp="1"/>
          </p:cNvSpPr>
          <p:nvPr>
            <p:ph type="title"/>
          </p:nvPr>
        </p:nvSpPr>
        <p:spPr>
          <a:xfrm>
            <a:off x="223709" y="55285"/>
            <a:ext cx="10515600" cy="765616"/>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150052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95953-2E54-25BE-E447-75D55EDC1A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E9CC13-E83C-96F9-6294-590F3B04DF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7E5B71-376C-E933-B723-1C1AE516BD14}"/>
              </a:ext>
            </a:extLst>
          </p:cNvPr>
          <p:cNvSpPr>
            <a:spLocks noGrp="1"/>
          </p:cNvSpPr>
          <p:nvPr>
            <p:ph type="dt" sz="half" idx="10"/>
          </p:nvPr>
        </p:nvSpPr>
        <p:spPr/>
        <p:txBody>
          <a:bodyPr/>
          <a:lstStyle/>
          <a:p>
            <a:fld id="{75D87E95-A067-4307-8551-BA4B8618524E}" type="datetimeFigureOut">
              <a:rPr lang="en-US" smtClean="0"/>
              <a:t>7/21/2023</a:t>
            </a:fld>
            <a:endParaRPr lang="en-US"/>
          </a:p>
        </p:txBody>
      </p:sp>
      <p:sp>
        <p:nvSpPr>
          <p:cNvPr id="5" name="Footer Placeholder 4">
            <a:extLst>
              <a:ext uri="{FF2B5EF4-FFF2-40B4-BE49-F238E27FC236}">
                <a16:creationId xmlns:a16="http://schemas.microsoft.com/office/drawing/2014/main" id="{164CF831-ED31-D132-788B-BB41D4F3A7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8D5328-A410-8192-12CA-A467A52F2A4A}"/>
              </a:ext>
            </a:extLst>
          </p:cNvPr>
          <p:cNvSpPr>
            <a:spLocks noGrp="1"/>
          </p:cNvSpPr>
          <p:nvPr>
            <p:ph type="sldNum" sz="quarter" idx="12"/>
          </p:nvPr>
        </p:nvSpPr>
        <p:spPr/>
        <p:txBody>
          <a:bodyPr/>
          <a:lstStyle/>
          <a:p>
            <a:fld id="{4509CC2E-545E-4D3E-8E41-C577FE4E2E10}" type="slidenum">
              <a:rPr lang="en-US" smtClean="0"/>
              <a:t>‹#›</a:t>
            </a:fld>
            <a:endParaRPr lang="en-US"/>
          </a:p>
        </p:txBody>
      </p:sp>
    </p:spTree>
    <p:extLst>
      <p:ext uri="{BB962C8B-B14F-4D97-AF65-F5344CB8AC3E}">
        <p14:creationId xmlns:p14="http://schemas.microsoft.com/office/powerpoint/2010/main" val="979366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603250" y="476250"/>
            <a:ext cx="10985500" cy="7165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3" name="Body Level One…"/>
          <p:cNvSpPr txBox="1">
            <a:spLocks noGrp="1"/>
          </p:cNvSpPr>
          <p:nvPr>
            <p:ph type="body" idx="1" hasCustomPrompt="1"/>
          </p:nvPr>
        </p:nvSpPr>
        <p:spPr>
          <a:xfrm>
            <a:off x="603250" y="2124252"/>
            <a:ext cx="10985500" cy="41280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4" name="Slide Number"/>
          <p:cNvSpPr txBox="1">
            <a:spLocks noGrp="1"/>
          </p:cNvSpPr>
          <p:nvPr>
            <p:ph type="sldNum" sz="quarter" idx="2"/>
          </p:nvPr>
        </p:nvSpPr>
        <p:spPr>
          <a:xfrm>
            <a:off x="5988180" y="6432847"/>
            <a:ext cx="291747" cy="294953"/>
          </a:xfrm>
          <a:prstGeom prst="rect">
            <a:avLst/>
          </a:prstGeom>
          <a:ln w="12700">
            <a:miter lim="400000"/>
          </a:ln>
        </p:spPr>
        <p:txBody>
          <a:bodyPr wrap="none" lIns="50800" tIns="50800" rIns="50800" bIns="50800" anchor="b">
            <a:spAutoFit/>
          </a:bodyPr>
          <a:lstStyle>
            <a:lvl1pPr defTabSz="292100">
              <a:defRPr sz="1250">
                <a:solidFill>
                  <a:srgbClr val="00B1FF"/>
                </a:solidFill>
                <a:latin typeface="Mont SemiBold"/>
                <a:ea typeface="Mont SemiBold"/>
                <a:cs typeface="Mont SemiBold"/>
                <a:sym typeface="Mont SemiBold"/>
              </a:defRPr>
            </a:lvl1pPr>
          </a:lstStyle>
          <a:p>
            <a:fld id="{4509CC2E-545E-4D3E-8E41-C577FE4E2E10}" type="slidenum">
              <a:rPr lang="en-US" smtClean="0"/>
              <a:t>‹#›</a:t>
            </a:fld>
            <a:endParaRPr lang="en-US"/>
          </a:p>
        </p:txBody>
      </p:sp>
    </p:spTree>
    <p:extLst>
      <p:ext uri="{BB962C8B-B14F-4D97-AF65-F5344CB8AC3E}">
        <p14:creationId xmlns:p14="http://schemas.microsoft.com/office/powerpoint/2010/main" val="4169616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ransition spd="med"/>
  <p:txStyles>
    <p:titleStyle>
      <a:lvl1pPr marL="0" marR="0" indent="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1pPr>
      <a:lvl2pPr marL="0" marR="0" indent="2286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2pPr>
      <a:lvl3pPr marL="0" marR="0" indent="4572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3pPr>
      <a:lvl4pPr marL="0" marR="0" indent="6858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4pPr>
      <a:lvl5pPr marL="0" marR="0" indent="9144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5pPr>
      <a:lvl6pPr marL="0" marR="0" indent="11430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6pPr>
      <a:lvl7pPr marL="0" marR="0" indent="13716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7pPr>
      <a:lvl8pPr marL="0" marR="0" indent="16002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8pPr>
      <a:lvl9pPr marL="0" marR="0" indent="1828800" algn="l" defTabSz="1219169" rtl="0" eaLnBrk="1" latinLnBrk="0" hangingPunct="1">
        <a:lnSpc>
          <a:spcPct val="80000"/>
        </a:lnSpc>
        <a:spcBef>
          <a:spcPts val="0"/>
        </a:spcBef>
        <a:spcAft>
          <a:spcPts val="0"/>
        </a:spcAft>
        <a:buClrTx/>
        <a:buSzTx/>
        <a:buFontTx/>
        <a:buNone/>
        <a:tabLst/>
        <a:defRPr sz="4250" b="1" i="0" u="none" strike="noStrike" cap="none" spc="-85" baseline="0">
          <a:solidFill>
            <a:srgbClr val="00B1FF"/>
          </a:solidFill>
          <a:uFillTx/>
          <a:latin typeface="+mn-lt"/>
          <a:ea typeface="+mn-ea"/>
          <a:cs typeface="+mn-cs"/>
          <a:sym typeface="Arial"/>
        </a:defRPr>
      </a:lvl9pPr>
    </p:titleStyle>
    <p:bodyStyle>
      <a:lvl1pPr marL="304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p:bodyStyle>
    <p:otherStyle>
      <a:lvl1pPr marL="0" marR="0" indent="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1pPr>
      <a:lvl2pPr marL="0" marR="0" indent="2286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2pPr>
      <a:lvl3pPr marL="0" marR="0" indent="4572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3pPr>
      <a:lvl4pPr marL="0" marR="0" indent="6858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4pPr>
      <a:lvl5pPr marL="0" marR="0" indent="9144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5pPr>
      <a:lvl6pPr marL="0" marR="0" indent="11430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6pPr>
      <a:lvl7pPr marL="0" marR="0" indent="13716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7pPr>
      <a:lvl8pPr marL="0" marR="0" indent="16002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8pPr>
      <a:lvl9pPr marL="0" marR="0" indent="1828800" algn="ctr" defTabSz="292100" rtl="0" eaLnBrk="1" latinLnBrk="0" hangingPunct="1">
        <a:lnSpc>
          <a:spcPct val="100000"/>
        </a:lnSpc>
        <a:spcBef>
          <a:spcPts val="0"/>
        </a:spcBef>
        <a:spcAft>
          <a:spcPts val="0"/>
        </a:spcAft>
        <a:buClrTx/>
        <a:buSzTx/>
        <a:buFontTx/>
        <a:buNone/>
        <a:tabLst/>
        <a:defRPr sz="1250" b="0" i="0" u="none" strike="noStrike" cap="none" spc="0" baseline="0">
          <a:solidFill>
            <a:schemeClr val="tx1"/>
          </a:solidFill>
          <a:uFillTx/>
          <a:latin typeface="+mn-lt"/>
          <a:ea typeface="+mn-ea"/>
          <a:cs typeface="+mn-cs"/>
          <a:sym typeface="Mont SemiBol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portal.ogc.org/files/?artifact_id=105162&amp;version=1"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solarsystem.nasa.gov/missions/dart/in-depth/" TargetMode="Externa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hyperlink" Target="https://arctic-sdi.org/"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A21375CE-5B98-195B-66F8-BBE016F83932}"/>
              </a:ext>
            </a:extLst>
          </p:cNvPr>
          <p:cNvSpPr>
            <a:spLocks noGrp="1"/>
          </p:cNvSpPr>
          <p:nvPr>
            <p:ph type="body" sz="quarter" idx="21"/>
          </p:nvPr>
        </p:nvSpPr>
        <p:spPr>
          <a:xfrm>
            <a:off x="600670" y="5923581"/>
            <a:ext cx="10985502" cy="318490"/>
          </a:xfrm>
        </p:spPr>
        <p:txBody>
          <a:bodyPr>
            <a:normAutofit fontScale="92500" lnSpcReduction="20000"/>
          </a:bodyPr>
          <a:lstStyle/>
          <a:p>
            <a:r>
              <a:rPr lang="en-US" dirty="0"/>
              <a:t>Chuck Heazel, July 25, 2023</a:t>
            </a:r>
          </a:p>
        </p:txBody>
      </p:sp>
      <p:sp>
        <p:nvSpPr>
          <p:cNvPr id="10" name="Title 2">
            <a:extLst>
              <a:ext uri="{FF2B5EF4-FFF2-40B4-BE49-F238E27FC236}">
                <a16:creationId xmlns:a16="http://schemas.microsoft.com/office/drawing/2014/main" id="{9261314D-0406-1844-5577-0BCB996130DC}"/>
              </a:ext>
            </a:extLst>
          </p:cNvPr>
          <p:cNvSpPr>
            <a:spLocks noGrp="1"/>
          </p:cNvSpPr>
          <p:nvPr>
            <p:ph type="title"/>
          </p:nvPr>
        </p:nvSpPr>
        <p:spPr>
          <a:xfrm>
            <a:off x="603248" y="1287496"/>
            <a:ext cx="7017969" cy="2324101"/>
          </a:xfrm>
        </p:spPr>
        <p:txBody>
          <a:bodyPr/>
          <a:lstStyle/>
          <a:p>
            <a:r>
              <a:rPr lang="en-US" dirty="0"/>
              <a:t>Space Standards </a:t>
            </a:r>
          </a:p>
        </p:txBody>
      </p:sp>
      <p:sp>
        <p:nvSpPr>
          <p:cNvPr id="12" name="Text Placeholder 3">
            <a:extLst>
              <a:ext uri="{FF2B5EF4-FFF2-40B4-BE49-F238E27FC236}">
                <a16:creationId xmlns:a16="http://schemas.microsoft.com/office/drawing/2014/main" id="{DF056674-D4C3-7616-B028-8ED11D49D823}"/>
              </a:ext>
            </a:extLst>
          </p:cNvPr>
          <p:cNvSpPr>
            <a:spLocks noGrp="1"/>
          </p:cNvSpPr>
          <p:nvPr>
            <p:ph type="body" sz="quarter" idx="1"/>
          </p:nvPr>
        </p:nvSpPr>
        <p:spPr>
          <a:xfrm>
            <a:off x="600671" y="3605245"/>
            <a:ext cx="10985501" cy="952501"/>
          </a:xfrm>
        </p:spPr>
        <p:txBody>
          <a:bodyPr/>
          <a:lstStyle/>
          <a:p>
            <a:r>
              <a:rPr lang="en-US" dirty="0"/>
              <a:t>OGC Testbeds 18, 19, and beyond</a:t>
            </a:r>
          </a:p>
        </p:txBody>
      </p:sp>
      <p:sp>
        <p:nvSpPr>
          <p:cNvPr id="4" name="TextBox 3">
            <a:extLst>
              <a:ext uri="{FF2B5EF4-FFF2-40B4-BE49-F238E27FC236}">
                <a16:creationId xmlns:a16="http://schemas.microsoft.com/office/drawing/2014/main" id="{8021E969-A1B3-60C9-9435-32243894A45D}"/>
              </a:ext>
            </a:extLst>
          </p:cNvPr>
          <p:cNvSpPr txBox="1"/>
          <p:nvPr/>
        </p:nvSpPr>
        <p:spPr>
          <a:xfrm>
            <a:off x="1162756" y="2002506"/>
            <a:ext cx="4289778"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600" b="1" i="0" u="none" strike="noStrike" cap="none" spc="0" normalizeH="0" baseline="0" dirty="0">
                <a:ln>
                  <a:noFill/>
                </a:ln>
                <a:solidFill>
                  <a:srgbClr val="FF0000"/>
                </a:solidFill>
                <a:effectLst/>
                <a:uFillTx/>
                <a:latin typeface="Mont Book"/>
                <a:ea typeface="Mont Book"/>
                <a:cs typeface="Mont Book"/>
                <a:sym typeface="Mont Book"/>
              </a:rPr>
              <a:t>DRAFT</a:t>
            </a:r>
          </a:p>
        </p:txBody>
      </p:sp>
    </p:spTree>
    <p:extLst>
      <p:ext uri="{BB962C8B-B14F-4D97-AF65-F5344CB8AC3E}">
        <p14:creationId xmlns:p14="http://schemas.microsoft.com/office/powerpoint/2010/main" val="406538258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9BFDF-CAD1-4C01-A2C8-07393429CD66}"/>
              </a:ext>
            </a:extLst>
          </p:cNvPr>
          <p:cNvSpPr>
            <a:spLocks noGrp="1"/>
          </p:cNvSpPr>
          <p:nvPr>
            <p:ph type="title"/>
          </p:nvPr>
        </p:nvSpPr>
        <p:spPr>
          <a:xfrm>
            <a:off x="838200" y="365126"/>
            <a:ext cx="10515600" cy="804108"/>
          </a:xfrm>
        </p:spPr>
        <p:txBody>
          <a:bodyPr>
            <a:normAutofit/>
          </a:bodyPr>
          <a:lstStyle/>
          <a:p>
            <a:r>
              <a:rPr lang="en-US" b="1" dirty="0"/>
              <a:t>What is an OGC Testbed?</a:t>
            </a:r>
          </a:p>
        </p:txBody>
      </p:sp>
      <p:sp>
        <p:nvSpPr>
          <p:cNvPr id="3" name="Content Placeholder 2">
            <a:extLst>
              <a:ext uri="{FF2B5EF4-FFF2-40B4-BE49-F238E27FC236}">
                <a16:creationId xmlns:a16="http://schemas.microsoft.com/office/drawing/2014/main" id="{92E1D4F2-F300-475E-81EA-F458358BE3F9}"/>
              </a:ext>
            </a:extLst>
          </p:cNvPr>
          <p:cNvSpPr>
            <a:spLocks noGrp="1"/>
          </p:cNvSpPr>
          <p:nvPr>
            <p:ph idx="1"/>
          </p:nvPr>
        </p:nvSpPr>
        <p:spPr>
          <a:xfrm>
            <a:off x="838200" y="1022684"/>
            <a:ext cx="10515600" cy="5470190"/>
          </a:xfrm>
        </p:spPr>
        <p:txBody>
          <a:bodyPr>
            <a:normAutofit lnSpcReduction="10000"/>
          </a:bodyPr>
          <a:lstStyle/>
          <a:p>
            <a:pPr>
              <a:lnSpc>
                <a:spcPct val="120000"/>
              </a:lnSpc>
              <a:spcBef>
                <a:spcPts val="0"/>
              </a:spcBef>
            </a:pPr>
            <a:r>
              <a:rPr lang="en-US" sz="2800" dirty="0"/>
              <a:t>An iterative standards development process.</a:t>
            </a:r>
          </a:p>
          <a:p>
            <a:pPr>
              <a:lnSpc>
                <a:spcPct val="120000"/>
              </a:lnSpc>
              <a:spcBef>
                <a:spcPts val="0"/>
              </a:spcBef>
            </a:pPr>
            <a:r>
              <a:rPr lang="en-US" sz="2800" dirty="0"/>
              <a:t>“build a little, test a little” assures that the standard can be implemented and that the implementations are interoperable.</a:t>
            </a:r>
          </a:p>
          <a:p>
            <a:pPr>
              <a:lnSpc>
                <a:spcPct val="120000"/>
              </a:lnSpc>
              <a:spcBef>
                <a:spcPts val="0"/>
              </a:spcBef>
            </a:pPr>
            <a:r>
              <a:rPr lang="en-US" sz="2800" dirty="0"/>
              <a:t>Testbed roles:</a:t>
            </a:r>
          </a:p>
          <a:p>
            <a:pPr lvl="1">
              <a:lnSpc>
                <a:spcPct val="120000"/>
              </a:lnSpc>
              <a:spcBef>
                <a:spcPts val="0"/>
              </a:spcBef>
            </a:pPr>
            <a:r>
              <a:rPr lang="en-US" sz="2400" dirty="0"/>
              <a:t>Participants</a:t>
            </a:r>
          </a:p>
          <a:p>
            <a:pPr lvl="2">
              <a:lnSpc>
                <a:spcPct val="120000"/>
              </a:lnSpc>
              <a:spcBef>
                <a:spcPts val="0"/>
              </a:spcBef>
            </a:pPr>
            <a:r>
              <a:rPr lang="en-US" sz="2400" dirty="0"/>
              <a:t>Perform analysis</a:t>
            </a:r>
          </a:p>
          <a:p>
            <a:pPr lvl="2">
              <a:lnSpc>
                <a:spcPct val="120000"/>
              </a:lnSpc>
              <a:spcBef>
                <a:spcPts val="0"/>
              </a:spcBef>
            </a:pPr>
            <a:r>
              <a:rPr lang="en-US" sz="2400" dirty="0"/>
              <a:t>Build pilot implementations</a:t>
            </a:r>
          </a:p>
          <a:p>
            <a:pPr lvl="2">
              <a:lnSpc>
                <a:spcPct val="120000"/>
              </a:lnSpc>
              <a:spcBef>
                <a:spcPts val="0"/>
              </a:spcBef>
            </a:pPr>
            <a:r>
              <a:rPr lang="en-US" sz="2400" dirty="0"/>
              <a:t>Pay most of their costs out-of-pocket</a:t>
            </a:r>
            <a:endParaRPr lang="en-US" sz="2800" dirty="0"/>
          </a:p>
          <a:p>
            <a:pPr lvl="1">
              <a:lnSpc>
                <a:spcPct val="120000"/>
              </a:lnSpc>
              <a:spcBef>
                <a:spcPts val="0"/>
              </a:spcBef>
            </a:pPr>
            <a:r>
              <a:rPr lang="en-US" sz="2400" dirty="0"/>
              <a:t>Sponsors</a:t>
            </a:r>
          </a:p>
          <a:p>
            <a:pPr lvl="2">
              <a:lnSpc>
                <a:spcPct val="120000"/>
              </a:lnSpc>
              <a:spcBef>
                <a:spcPts val="0"/>
              </a:spcBef>
            </a:pPr>
            <a:r>
              <a:rPr lang="en-US" sz="2400" dirty="0"/>
              <a:t>Define “needs” (not requirements)</a:t>
            </a:r>
          </a:p>
          <a:p>
            <a:pPr lvl="2">
              <a:lnSpc>
                <a:spcPct val="120000"/>
              </a:lnSpc>
              <a:spcBef>
                <a:spcPts val="0"/>
              </a:spcBef>
            </a:pPr>
            <a:r>
              <a:rPr lang="en-US" sz="2400" dirty="0"/>
              <a:t>Provide matching funding</a:t>
            </a:r>
          </a:p>
          <a:p>
            <a:pPr lvl="2">
              <a:lnSpc>
                <a:spcPct val="120000"/>
              </a:lnSpc>
              <a:spcBef>
                <a:spcPts val="0"/>
              </a:spcBef>
            </a:pPr>
            <a:r>
              <a:rPr lang="en-US" sz="2400" dirty="0"/>
              <a:t>Cover overhead costs</a:t>
            </a:r>
            <a:endParaRPr lang="en-US" sz="1800" dirty="0"/>
          </a:p>
        </p:txBody>
      </p:sp>
    </p:spTree>
    <p:extLst>
      <p:ext uri="{BB962C8B-B14F-4D97-AF65-F5344CB8AC3E}">
        <p14:creationId xmlns:p14="http://schemas.microsoft.com/office/powerpoint/2010/main" val="664655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8F0C-F31F-CA53-37E9-2DFE69442841}"/>
              </a:ext>
            </a:extLst>
          </p:cNvPr>
          <p:cNvSpPr>
            <a:spLocks noGrp="1"/>
          </p:cNvSpPr>
          <p:nvPr>
            <p:ph type="title"/>
          </p:nvPr>
        </p:nvSpPr>
        <p:spPr/>
        <p:txBody>
          <a:bodyPr/>
          <a:lstStyle/>
          <a:p>
            <a:r>
              <a:rPr lang="en-US" dirty="0"/>
              <a:t>Space Related OGC Testbeds</a:t>
            </a:r>
          </a:p>
        </p:txBody>
      </p:sp>
      <p:sp>
        <p:nvSpPr>
          <p:cNvPr id="3" name="Content Placeholder 2">
            <a:extLst>
              <a:ext uri="{FF2B5EF4-FFF2-40B4-BE49-F238E27FC236}">
                <a16:creationId xmlns:a16="http://schemas.microsoft.com/office/drawing/2014/main" id="{622A4F63-AD78-0CC0-FB40-1A3EFB24E7DF}"/>
              </a:ext>
            </a:extLst>
          </p:cNvPr>
          <p:cNvSpPr>
            <a:spLocks noGrp="1"/>
          </p:cNvSpPr>
          <p:nvPr>
            <p:ph idx="1"/>
          </p:nvPr>
        </p:nvSpPr>
        <p:spPr>
          <a:xfrm>
            <a:off x="603249" y="1192832"/>
            <a:ext cx="11187697" cy="5188918"/>
          </a:xfrm>
        </p:spPr>
        <p:txBody>
          <a:bodyPr>
            <a:normAutofit/>
          </a:bodyPr>
          <a:lstStyle/>
          <a:p>
            <a:pPr>
              <a:lnSpc>
                <a:spcPct val="110000"/>
              </a:lnSpc>
              <a:spcBef>
                <a:spcPts val="0"/>
              </a:spcBef>
            </a:pPr>
            <a:r>
              <a:rPr lang="en-US" dirty="0"/>
              <a:t>Testbed 18 (completed December 2022)</a:t>
            </a:r>
          </a:p>
          <a:p>
            <a:pPr lvl="1">
              <a:lnSpc>
                <a:spcPct val="110000"/>
              </a:lnSpc>
              <a:spcBef>
                <a:spcPts val="0"/>
              </a:spcBef>
            </a:pPr>
            <a:r>
              <a:rPr lang="en-US" dirty="0"/>
              <a:t>Moving Features and Sensor Integration Task</a:t>
            </a:r>
          </a:p>
          <a:p>
            <a:pPr lvl="2">
              <a:lnSpc>
                <a:spcPct val="110000"/>
              </a:lnSpc>
              <a:spcBef>
                <a:spcPts val="0"/>
              </a:spcBef>
            </a:pPr>
            <a:r>
              <a:rPr lang="en-US" dirty="0"/>
              <a:t>A follow-on to separate Moving Features and Sensor Integration tasks from Testbed 17.</a:t>
            </a:r>
          </a:p>
          <a:p>
            <a:pPr lvl="2">
              <a:lnSpc>
                <a:spcPct val="110000"/>
              </a:lnSpc>
              <a:spcBef>
                <a:spcPts val="0"/>
              </a:spcBef>
            </a:pPr>
            <a:r>
              <a:rPr lang="en-US" dirty="0"/>
              <a:t>Show that measurements from a heterogenous collection of sensors can be used to create and maintain Moving Features.</a:t>
            </a:r>
          </a:p>
          <a:p>
            <a:pPr lvl="1">
              <a:lnSpc>
                <a:spcPct val="110000"/>
              </a:lnSpc>
              <a:spcBef>
                <a:spcPts val="0"/>
              </a:spcBef>
            </a:pPr>
            <a:r>
              <a:rPr lang="en-US" dirty="0"/>
              <a:t>3D+ Task</a:t>
            </a:r>
          </a:p>
          <a:p>
            <a:pPr lvl="2">
              <a:lnSpc>
                <a:spcPct val="110000"/>
              </a:lnSpc>
              <a:spcBef>
                <a:spcPts val="0"/>
              </a:spcBef>
            </a:pPr>
            <a:r>
              <a:rPr lang="en-US" dirty="0"/>
              <a:t>What issues are introduced when we take Features off the Earth?</a:t>
            </a:r>
          </a:p>
          <a:p>
            <a:pPr lvl="2">
              <a:lnSpc>
                <a:spcPct val="110000"/>
              </a:lnSpc>
              <a:spcBef>
                <a:spcPts val="0"/>
              </a:spcBef>
            </a:pPr>
            <a:r>
              <a:rPr lang="en-US" dirty="0"/>
              <a:t>How well do our existing standards address those issues?</a:t>
            </a:r>
          </a:p>
          <a:p>
            <a:pPr>
              <a:lnSpc>
                <a:spcPct val="110000"/>
              </a:lnSpc>
              <a:spcBef>
                <a:spcPts val="0"/>
              </a:spcBef>
            </a:pPr>
            <a:r>
              <a:rPr lang="en-US" dirty="0"/>
              <a:t>Testbed 19 (in progress)</a:t>
            </a:r>
          </a:p>
          <a:p>
            <a:pPr lvl="1">
              <a:lnSpc>
                <a:spcPct val="110000"/>
              </a:lnSpc>
              <a:spcBef>
                <a:spcPts val="0"/>
              </a:spcBef>
            </a:pPr>
            <a:r>
              <a:rPr lang="en-US" dirty="0"/>
              <a:t>Space Standards</a:t>
            </a:r>
          </a:p>
          <a:p>
            <a:pPr lvl="2">
              <a:lnSpc>
                <a:spcPct val="110000"/>
              </a:lnSpc>
              <a:spcBef>
                <a:spcPts val="0"/>
              </a:spcBef>
            </a:pPr>
            <a:r>
              <a:rPr lang="en-US" dirty="0"/>
              <a:t>Implement and validate conclusions from Testbed 18.</a:t>
            </a:r>
          </a:p>
          <a:p>
            <a:pPr lvl="2">
              <a:lnSpc>
                <a:spcPct val="110000"/>
              </a:lnSpc>
              <a:spcBef>
                <a:spcPts val="0"/>
              </a:spcBef>
            </a:pPr>
            <a:r>
              <a:rPr lang="en-US" dirty="0"/>
              <a:t>Begin work on non-terrestrial imagery (</a:t>
            </a:r>
            <a:r>
              <a:rPr lang="en-US" dirty="0" err="1"/>
              <a:t>GeoTIFF</a:t>
            </a:r>
            <a:r>
              <a:rPr lang="en-US" dirty="0"/>
              <a:t>).</a:t>
            </a:r>
          </a:p>
          <a:p>
            <a:pPr>
              <a:lnSpc>
                <a:spcPct val="110000"/>
              </a:lnSpc>
              <a:spcBef>
                <a:spcPts val="0"/>
              </a:spcBef>
            </a:pPr>
            <a:r>
              <a:rPr lang="en-US" dirty="0"/>
              <a:t>Testbed 20 (planned for 2024)</a:t>
            </a:r>
          </a:p>
        </p:txBody>
      </p:sp>
    </p:spTree>
    <p:extLst>
      <p:ext uri="{BB962C8B-B14F-4D97-AF65-F5344CB8AC3E}">
        <p14:creationId xmlns:p14="http://schemas.microsoft.com/office/powerpoint/2010/main" val="3139624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652B1-3BBA-991F-D65B-9BBA12A0D4C8}"/>
              </a:ext>
            </a:extLst>
          </p:cNvPr>
          <p:cNvSpPr>
            <a:spLocks noGrp="1"/>
          </p:cNvSpPr>
          <p:nvPr>
            <p:ph type="title"/>
          </p:nvPr>
        </p:nvSpPr>
        <p:spPr/>
        <p:txBody>
          <a:bodyPr>
            <a:normAutofit fontScale="90000"/>
          </a:bodyPr>
          <a:lstStyle/>
          <a:p>
            <a:r>
              <a:rPr lang="en-US" dirty="0"/>
              <a:t>TB 18 Moving Features and Sensor Integration</a:t>
            </a:r>
          </a:p>
        </p:txBody>
      </p:sp>
      <p:sp>
        <p:nvSpPr>
          <p:cNvPr id="3" name="Text Placeholder 2">
            <a:extLst>
              <a:ext uri="{FF2B5EF4-FFF2-40B4-BE49-F238E27FC236}">
                <a16:creationId xmlns:a16="http://schemas.microsoft.com/office/drawing/2014/main" id="{F49510F2-2DA8-7CC5-E29C-0E909C0BC97E}"/>
              </a:ext>
            </a:extLst>
          </p:cNvPr>
          <p:cNvSpPr>
            <a:spLocks noGrp="1"/>
          </p:cNvSpPr>
          <p:nvPr>
            <p:ph type="body" idx="1"/>
          </p:nvPr>
        </p:nvSpPr>
        <p:spPr>
          <a:xfrm>
            <a:off x="603250" y="1740835"/>
            <a:ext cx="10985500" cy="4732153"/>
          </a:xfrm>
        </p:spPr>
        <p:txBody>
          <a:bodyPr>
            <a:normAutofit fontScale="92500"/>
          </a:bodyPr>
          <a:lstStyle/>
          <a:p>
            <a:r>
              <a:rPr lang="en-US" dirty="0"/>
              <a:t>Moving Features</a:t>
            </a:r>
          </a:p>
          <a:p>
            <a:pPr marL="914400" lvl="1" indent="-457200">
              <a:buSzPct val="87000"/>
              <a:buFont typeface="+mj-lt"/>
              <a:buAutoNum type="arabicPeriod"/>
            </a:pPr>
            <a:r>
              <a:rPr lang="en-US" sz="2200" dirty="0"/>
              <a:t>While not specifically defined as static, OGC Features were, implicitly, structurally homogeneous </a:t>
            </a:r>
          </a:p>
          <a:p>
            <a:pPr marL="914400" lvl="1" indent="-457200">
              <a:buSzPct val="87000"/>
              <a:buFont typeface="+mj-lt"/>
              <a:buAutoNum type="arabicPeriod"/>
            </a:pPr>
            <a:r>
              <a:rPr lang="en-US" sz="2200" dirty="0"/>
              <a:t>While not specifically defined as immobile, OGC Features were, implicitly, unmoving</a:t>
            </a:r>
          </a:p>
          <a:p>
            <a:r>
              <a:rPr lang="en-US" dirty="0"/>
              <a:t>Sensor Integration: After evaluating existing sensor architectures, we concluded:</a:t>
            </a:r>
          </a:p>
          <a:p>
            <a:pPr marL="914400" lvl="1" indent="-457200">
              <a:buSzPct val="87000"/>
              <a:buFont typeface="+mj-lt"/>
              <a:buAutoNum type="arabicPeriod"/>
            </a:pPr>
            <a:r>
              <a:rPr lang="en-US" sz="2200" dirty="0"/>
              <a:t>There will never be a single set of sensor standards</a:t>
            </a:r>
          </a:p>
          <a:p>
            <a:pPr marL="914400" lvl="1" indent="-457200">
              <a:buSzPct val="87000"/>
              <a:buFont typeface="+mj-lt"/>
              <a:buAutoNum type="arabicPeriod"/>
            </a:pPr>
            <a:r>
              <a:rPr lang="en-US" sz="2200" dirty="0"/>
              <a:t>There are very good reasons why this should be so</a:t>
            </a:r>
          </a:p>
          <a:p>
            <a:pPr marL="0" indent="0">
              <a:buNone/>
            </a:pPr>
            <a:endParaRPr lang="en-US" dirty="0"/>
          </a:p>
          <a:p>
            <a:pPr marL="0" indent="0">
              <a:buNone/>
            </a:pPr>
            <a:r>
              <a:rPr lang="en-US" dirty="0"/>
              <a:t>If we could develop an architecture for integrating heterogeneous sensor systems, and have them report on dynamic and moving features, then we would demonstrate applicability of the OGC family of standards to a much broader domain than typically considered (e.g., weather dynamics, vehicle tracking applications, etc.)</a:t>
            </a:r>
          </a:p>
          <a:p>
            <a:endParaRPr lang="en-US" dirty="0"/>
          </a:p>
        </p:txBody>
      </p:sp>
      <p:sp>
        <p:nvSpPr>
          <p:cNvPr id="4" name="Google Shape;142;p14">
            <a:extLst>
              <a:ext uri="{FF2B5EF4-FFF2-40B4-BE49-F238E27FC236}">
                <a16:creationId xmlns:a16="http://schemas.microsoft.com/office/drawing/2014/main" id="{E02EEC65-142D-B309-2FB7-71BA6714ED30}"/>
              </a:ext>
            </a:extLst>
          </p:cNvPr>
          <p:cNvSpPr txBox="1">
            <a:spLocks/>
          </p:cNvSpPr>
          <p:nvPr/>
        </p:nvSpPr>
        <p:spPr>
          <a:xfrm>
            <a:off x="603250" y="1192832"/>
            <a:ext cx="10985500" cy="46739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22850" tIns="22850" rIns="22850" bIns="22850" anchor="t" anchorCtr="0">
            <a:normAutofit fontScale="92500" lnSpcReduction="20000"/>
          </a:bodyPr>
          <a:lstStyle>
            <a:lvl1pPr marL="3048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a:lstStyle>
          <a:p>
            <a:pPr marL="0" indent="0">
              <a:buSzPct val="107843"/>
              <a:buNone/>
            </a:pPr>
            <a:r>
              <a:rPr lang="en-US" sz="2700" b="1" dirty="0"/>
              <a:t>Challenges and Opportunities</a:t>
            </a:r>
          </a:p>
          <a:p>
            <a:pPr marL="0" indent="0"/>
            <a:endParaRPr lang="en-US" b="1" dirty="0"/>
          </a:p>
        </p:txBody>
      </p:sp>
    </p:spTree>
    <p:extLst>
      <p:ext uri="{BB962C8B-B14F-4D97-AF65-F5344CB8AC3E}">
        <p14:creationId xmlns:p14="http://schemas.microsoft.com/office/powerpoint/2010/main" val="35882756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57B0E-9902-0B49-A4C5-4DEFC09C9063}"/>
              </a:ext>
            </a:extLst>
          </p:cNvPr>
          <p:cNvSpPr>
            <a:spLocks noGrp="1"/>
          </p:cNvSpPr>
          <p:nvPr>
            <p:ph type="title"/>
          </p:nvPr>
        </p:nvSpPr>
        <p:spPr/>
        <p:txBody>
          <a:bodyPr/>
          <a:lstStyle/>
          <a:p>
            <a:r>
              <a:rPr lang="en-US" dirty="0"/>
              <a:t>Previous Work, Current Scope, Scenario</a:t>
            </a:r>
          </a:p>
        </p:txBody>
      </p:sp>
      <p:sp>
        <p:nvSpPr>
          <p:cNvPr id="4" name="Google Shape;142;p14">
            <a:extLst>
              <a:ext uri="{FF2B5EF4-FFF2-40B4-BE49-F238E27FC236}">
                <a16:creationId xmlns:a16="http://schemas.microsoft.com/office/drawing/2014/main" id="{0EE3A37F-C216-254A-488C-CDA782D152DD}"/>
              </a:ext>
            </a:extLst>
          </p:cNvPr>
          <p:cNvSpPr txBox="1">
            <a:spLocks noGrp="1"/>
          </p:cNvSpPr>
          <p:nvPr>
            <p:ph type="body" idx="1"/>
          </p:nvPr>
        </p:nvSpPr>
        <p:spPr>
          <a:xfrm>
            <a:off x="603250" y="1660222"/>
            <a:ext cx="10985500" cy="4721527"/>
          </a:xfrm>
          <a:prstGeom prst="rect">
            <a:avLst/>
          </a:prstGeom>
          <a:noFill/>
          <a:ln>
            <a:noFill/>
          </a:ln>
        </p:spPr>
        <p:txBody>
          <a:bodyPr spcFirstLastPara="1" wrap="square" lIns="22850" tIns="22850" rIns="22850" bIns="22850" anchor="t" anchorCtr="0">
            <a:normAutofit fontScale="85000" lnSpcReduction="20000"/>
          </a:bodyPr>
          <a:lstStyle/>
          <a:p>
            <a:pPr marL="0" indent="0">
              <a:buNone/>
            </a:pPr>
            <a:r>
              <a:rPr lang="en-US" dirty="0"/>
              <a:t>Previous Work: Testbed 17 matured the architecture and draft standards for Moving Features.</a:t>
            </a:r>
          </a:p>
          <a:p>
            <a:pPr marL="0" indent="0">
              <a:buNone/>
            </a:pPr>
            <a:r>
              <a:rPr lang="en-US" dirty="0"/>
              <a:t>Previous Work: Testbed 17 demonstrated that heterogeneous sensor systems can be integrated into a single homogeneous data model.</a:t>
            </a:r>
          </a:p>
          <a:p>
            <a:pPr marL="0" indent="0">
              <a:buNone/>
            </a:pPr>
            <a:r>
              <a:rPr lang="en-US" sz="2400" dirty="0"/>
              <a:t>Task: Explore whether moving features can be created from and maintained using observations from a heterogenous body of sensors.</a:t>
            </a:r>
          </a:p>
          <a:p>
            <a:pPr marL="0" indent="0">
              <a:buNone/>
            </a:pPr>
            <a:r>
              <a:rPr lang="en-US" dirty="0"/>
              <a:t>Current Scope:</a:t>
            </a:r>
          </a:p>
          <a:p>
            <a:pPr marL="685800" lvl="1" indent="-342900">
              <a:buFont typeface="Arial" panose="020B0604020202020204" pitchFamily="34" charset="0"/>
              <a:buChar char="•"/>
            </a:pPr>
            <a:r>
              <a:rPr lang="en-US" dirty="0"/>
              <a:t>Integrate the sensor integration capabilities with an emphasis on semantic transformations.</a:t>
            </a:r>
          </a:p>
          <a:p>
            <a:pPr marL="685800" lvl="1" indent="-342900">
              <a:buFont typeface="Arial" panose="020B0604020202020204" pitchFamily="34" charset="0"/>
              <a:buChar char="•"/>
            </a:pPr>
            <a:r>
              <a:rPr lang="en-US" dirty="0"/>
              <a:t>Identify and integrate new sensor types into the Moving Feature architecture.</a:t>
            </a:r>
          </a:p>
          <a:p>
            <a:pPr marL="685800" lvl="1" indent="-342900">
              <a:buFont typeface="Arial" panose="020B0604020202020204" pitchFamily="34" charset="0"/>
              <a:buChar char="•"/>
            </a:pPr>
            <a:r>
              <a:rPr lang="en-US" dirty="0"/>
              <a:t>Explore best practices for extending Feature standards to seamlessly support Moving Features content.</a:t>
            </a:r>
          </a:p>
          <a:p>
            <a:pPr marL="685800" lvl="1" indent="-342900">
              <a:buFont typeface="Arial" panose="020B0604020202020204" pitchFamily="34" charset="0"/>
              <a:buChar char="•"/>
            </a:pPr>
            <a:r>
              <a:rPr lang="en-US" dirty="0"/>
              <a:t>Explore the use of multi-sensor analytics to improve and enhance Moving Feature data</a:t>
            </a:r>
          </a:p>
          <a:p>
            <a:pPr marL="685800" lvl="1" indent="-342900">
              <a:buFont typeface="Arial" panose="020B0604020202020204" pitchFamily="34" charset="0"/>
              <a:buChar char="•"/>
            </a:pPr>
            <a:r>
              <a:rPr lang="en-US" dirty="0"/>
              <a:t>Explore quality metrics for Moving Features to demonstrate the value added of analytics </a:t>
            </a:r>
          </a:p>
          <a:p>
            <a:pPr marL="114300" indent="0">
              <a:buNone/>
            </a:pPr>
            <a:r>
              <a:rPr lang="en-US" sz="2400" dirty="0"/>
              <a:t>Scenario:  The tracking of a hurricane (a dynamic, ever-changing feature) across a swath of the Atlantic (i.e., also a moving feature)</a:t>
            </a:r>
          </a:p>
          <a:p>
            <a:pPr marL="0" indent="0">
              <a:buNone/>
            </a:pPr>
            <a:endParaRPr lang="en-US" dirty="0"/>
          </a:p>
        </p:txBody>
      </p:sp>
      <p:sp>
        <p:nvSpPr>
          <p:cNvPr id="5" name="Google Shape;142;p14">
            <a:extLst>
              <a:ext uri="{FF2B5EF4-FFF2-40B4-BE49-F238E27FC236}">
                <a16:creationId xmlns:a16="http://schemas.microsoft.com/office/drawing/2014/main" id="{042BFFE5-170A-E602-8430-8FB65F3FD8EF}"/>
              </a:ext>
            </a:extLst>
          </p:cNvPr>
          <p:cNvSpPr txBox="1">
            <a:spLocks/>
          </p:cNvSpPr>
          <p:nvPr/>
        </p:nvSpPr>
        <p:spPr>
          <a:xfrm>
            <a:off x="603250" y="1192832"/>
            <a:ext cx="10985500" cy="46739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22850" tIns="22850" rIns="22850" bIns="22850" anchor="ctr" anchorCtr="0">
            <a:noAutofit/>
          </a:bodyPr>
          <a:lstStyle>
            <a:lvl1pPr marL="3048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a:lstStyle>
          <a:p>
            <a:pPr marL="0" indent="0">
              <a:spcBef>
                <a:spcPts val="0"/>
              </a:spcBef>
              <a:buNone/>
            </a:pPr>
            <a:r>
              <a:rPr lang="en-US" sz="2500" b="1" dirty="0"/>
              <a:t>Moving Features and Sensor Integration</a:t>
            </a:r>
          </a:p>
        </p:txBody>
      </p:sp>
    </p:spTree>
    <p:extLst>
      <p:ext uri="{BB962C8B-B14F-4D97-AF65-F5344CB8AC3E}">
        <p14:creationId xmlns:p14="http://schemas.microsoft.com/office/powerpoint/2010/main" val="423096101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BB7C4-A990-3995-3551-DBB9C5A2500D}"/>
              </a:ext>
            </a:extLst>
          </p:cNvPr>
          <p:cNvSpPr>
            <a:spLocks noGrp="1"/>
          </p:cNvSpPr>
          <p:nvPr>
            <p:ph type="title"/>
          </p:nvPr>
        </p:nvSpPr>
        <p:spPr/>
        <p:txBody>
          <a:bodyPr/>
          <a:lstStyle/>
          <a:p>
            <a:r>
              <a:rPr lang="en-US" dirty="0"/>
              <a:t>Findings &amp; Results</a:t>
            </a:r>
          </a:p>
        </p:txBody>
      </p:sp>
      <p:sp>
        <p:nvSpPr>
          <p:cNvPr id="3" name="Text Placeholder 2">
            <a:extLst>
              <a:ext uri="{FF2B5EF4-FFF2-40B4-BE49-F238E27FC236}">
                <a16:creationId xmlns:a16="http://schemas.microsoft.com/office/drawing/2014/main" id="{72969A1A-4A84-5FEE-B966-ED8F9D3B6584}"/>
              </a:ext>
            </a:extLst>
          </p:cNvPr>
          <p:cNvSpPr>
            <a:spLocks noGrp="1"/>
          </p:cNvSpPr>
          <p:nvPr>
            <p:ph type="body" idx="1"/>
          </p:nvPr>
        </p:nvSpPr>
        <p:spPr>
          <a:xfrm>
            <a:off x="603250" y="1768643"/>
            <a:ext cx="10985500" cy="4303142"/>
          </a:xfrm>
        </p:spPr>
        <p:txBody>
          <a:bodyPr>
            <a:normAutofit fontScale="92500"/>
          </a:bodyPr>
          <a:lstStyle/>
          <a:p>
            <a:pPr marL="381000" indent="-342900">
              <a:buFont typeface="Arial" panose="020B0604020202020204" pitchFamily="34" charset="0"/>
              <a:buChar char="•"/>
            </a:pPr>
            <a:r>
              <a:rPr lang="en-US" dirty="0">
                <a:solidFill>
                  <a:schemeClr val="tx1"/>
                </a:solidFill>
              </a:rPr>
              <a:t>Demonstrated the integration of multiple types of moving sensors and features.</a:t>
            </a:r>
          </a:p>
          <a:p>
            <a:pPr marL="381000" indent="-342900">
              <a:buFont typeface="Arial" panose="020B0604020202020204" pitchFamily="34" charset="0"/>
              <a:buChar char="•"/>
            </a:pPr>
            <a:r>
              <a:rPr lang="en-US" dirty="0">
                <a:solidFill>
                  <a:schemeClr val="tx1"/>
                </a:solidFill>
              </a:rPr>
              <a:t>Showed that existing OGC standards are sufficiently robust for feature dynamics and motion</a:t>
            </a:r>
          </a:p>
          <a:p>
            <a:pPr marL="381000" indent="-342900">
              <a:buFont typeface="Arial" panose="020B0604020202020204" pitchFamily="34" charset="0"/>
              <a:buChar char="•"/>
            </a:pPr>
            <a:r>
              <a:rPr lang="en-US" dirty="0">
                <a:solidFill>
                  <a:schemeClr val="tx1"/>
                </a:solidFill>
              </a:rPr>
              <a:t>Showed that Sensor Integration and Moving Features could be combined into one architecture.</a:t>
            </a:r>
          </a:p>
          <a:p>
            <a:pPr marL="381000" indent="-342900">
              <a:buFont typeface="Arial" panose="020B0604020202020204" pitchFamily="34" charset="0"/>
              <a:buChar char="•"/>
            </a:pPr>
            <a:r>
              <a:rPr lang="en-US" dirty="0">
                <a:solidFill>
                  <a:schemeClr val="tx1"/>
                </a:solidFill>
              </a:rPr>
              <a:t>Determined that enough progress has been made through the Testbed process that we can begin working on Standardization.</a:t>
            </a:r>
          </a:p>
          <a:p>
            <a:pPr marL="381000" indent="-342900">
              <a:buFont typeface="Arial" panose="020B0604020202020204" pitchFamily="34" charset="0"/>
              <a:buChar char="•"/>
            </a:pPr>
            <a:r>
              <a:rPr lang="en-US" sz="2400" dirty="0">
                <a:solidFill>
                  <a:schemeClr val="tx1"/>
                </a:solidFill>
                <a:latin typeface="Lato" panose="020F0502020204030203" pitchFamily="34" charset="0"/>
              </a:rPr>
              <a:t>The OGC Connected Systems API Standards Working Group was chartered in February 2023.</a:t>
            </a:r>
          </a:p>
          <a:p>
            <a:pPr marL="381000" indent="-342900">
              <a:buFont typeface="Arial" panose="020B0604020202020204" pitchFamily="34" charset="0"/>
              <a:buChar char="•"/>
            </a:pPr>
            <a:r>
              <a:rPr lang="en-US" sz="2400" dirty="0">
                <a:solidFill>
                  <a:schemeClr val="tx1"/>
                </a:solidFill>
                <a:latin typeface="Lato" panose="020F0502020204030203" pitchFamily="34" charset="0"/>
              </a:rPr>
              <a:t>A </a:t>
            </a:r>
            <a:r>
              <a:rPr lang="en-US" sz="2400" dirty="0">
                <a:solidFill>
                  <a:schemeClr val="tx1"/>
                </a:solidFill>
                <a:latin typeface="Lato" panose="020F0502020204030203" pitchFamily="34" charset="0"/>
                <a:hlinkClick r:id="rId2">
                  <a:extLst>
                    <a:ext uri="{A12FA001-AC4F-418D-AE19-62706E023703}">
                      <ahyp:hlinkClr xmlns:ahyp="http://schemas.microsoft.com/office/drawing/2018/hyperlinkcolor" val="tx"/>
                    </a:ext>
                  </a:extLst>
                </a:hlinkClick>
              </a:rPr>
              <a:t>demonstration </a:t>
            </a:r>
            <a:r>
              <a:rPr lang="en-US" sz="2400" dirty="0">
                <a:solidFill>
                  <a:schemeClr val="tx1"/>
                </a:solidFill>
                <a:latin typeface="Lato" panose="020F0502020204030203" pitchFamily="34" charset="0"/>
              </a:rPr>
              <a:t>of this capability was provided at the OGC Members meeting in June 2023.</a:t>
            </a:r>
            <a:endParaRPr lang="en-US" dirty="0">
              <a:solidFill>
                <a:schemeClr val="tx1"/>
              </a:solidFill>
            </a:endParaRPr>
          </a:p>
          <a:p>
            <a:endParaRPr lang="en-US" dirty="0"/>
          </a:p>
        </p:txBody>
      </p:sp>
      <p:sp>
        <p:nvSpPr>
          <p:cNvPr id="4" name="Google Shape;142;p14">
            <a:extLst>
              <a:ext uri="{FF2B5EF4-FFF2-40B4-BE49-F238E27FC236}">
                <a16:creationId xmlns:a16="http://schemas.microsoft.com/office/drawing/2014/main" id="{2740E5BA-1F8F-8A90-1806-D6CE4ADBF7CA}"/>
              </a:ext>
            </a:extLst>
          </p:cNvPr>
          <p:cNvSpPr txBox="1">
            <a:spLocks/>
          </p:cNvSpPr>
          <p:nvPr/>
        </p:nvSpPr>
        <p:spPr>
          <a:xfrm>
            <a:off x="603250" y="1192832"/>
            <a:ext cx="10985500" cy="46739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22850" tIns="22850" rIns="22850" bIns="22850" anchor="t" anchorCtr="0">
            <a:normAutofit/>
          </a:bodyPr>
          <a:lstStyle>
            <a:lvl1pPr marL="3048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a:lstStyle>
          <a:p>
            <a:pPr marL="0" indent="0">
              <a:spcBef>
                <a:spcPts val="0"/>
              </a:spcBef>
              <a:buNone/>
            </a:pPr>
            <a:r>
              <a:rPr lang="en-US" b="1" dirty="0"/>
              <a:t>Existing OGC technologies can support dynamics and motion.</a:t>
            </a:r>
          </a:p>
        </p:txBody>
      </p:sp>
    </p:spTree>
    <p:extLst>
      <p:ext uri="{BB962C8B-B14F-4D97-AF65-F5344CB8AC3E}">
        <p14:creationId xmlns:p14="http://schemas.microsoft.com/office/powerpoint/2010/main" val="224101915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CB436-A823-B38C-5810-B64F5C780D19}"/>
              </a:ext>
            </a:extLst>
          </p:cNvPr>
          <p:cNvSpPr>
            <a:spLocks noGrp="1"/>
          </p:cNvSpPr>
          <p:nvPr>
            <p:ph type="title"/>
          </p:nvPr>
        </p:nvSpPr>
        <p:spPr/>
        <p:txBody>
          <a:bodyPr/>
          <a:lstStyle/>
          <a:p>
            <a:r>
              <a:rPr lang="en-US" dirty="0"/>
              <a:t>TB 18 3D+</a:t>
            </a:r>
          </a:p>
        </p:txBody>
      </p:sp>
      <p:sp>
        <p:nvSpPr>
          <p:cNvPr id="3" name="Text Placeholder 2">
            <a:extLst>
              <a:ext uri="{FF2B5EF4-FFF2-40B4-BE49-F238E27FC236}">
                <a16:creationId xmlns:a16="http://schemas.microsoft.com/office/drawing/2014/main" id="{0E529A67-9C7F-5796-5704-49608BDF0CE6}"/>
              </a:ext>
            </a:extLst>
          </p:cNvPr>
          <p:cNvSpPr>
            <a:spLocks noGrp="1"/>
          </p:cNvSpPr>
          <p:nvPr>
            <p:ph type="body" idx="1"/>
          </p:nvPr>
        </p:nvSpPr>
        <p:spPr>
          <a:xfrm>
            <a:off x="603250" y="1756611"/>
            <a:ext cx="10985500" cy="4495647"/>
          </a:xfrm>
        </p:spPr>
        <p:txBody>
          <a:bodyPr>
            <a:normAutofit fontScale="92500"/>
          </a:bodyPr>
          <a:lstStyle/>
          <a:p>
            <a:r>
              <a:rPr lang="en-US" dirty="0"/>
              <a:t>T</a:t>
            </a:r>
            <a:r>
              <a:rPr lang="en-US" sz="2400" dirty="0"/>
              <a:t>he OGC was tasked with developing geospatial standards for Space.</a:t>
            </a:r>
          </a:p>
          <a:p>
            <a:pPr lvl="1"/>
            <a:r>
              <a:rPr lang="en-US" sz="2200" dirty="0"/>
              <a:t>We interpreted that to include both planetary and interplanetary spaces.</a:t>
            </a:r>
            <a:endParaRPr lang="en-US" dirty="0"/>
          </a:p>
          <a:p>
            <a:r>
              <a:rPr lang="en-US" sz="2400" dirty="0"/>
              <a:t>Challenges:</a:t>
            </a:r>
          </a:p>
          <a:p>
            <a:pPr lvl="1"/>
            <a:r>
              <a:rPr lang="en-US" sz="2100" dirty="0"/>
              <a:t>Many OGC standards assume earth-centric application (witness the extensive use of WGS-84).</a:t>
            </a:r>
          </a:p>
          <a:p>
            <a:pPr lvl="1"/>
            <a:r>
              <a:rPr lang="en-US" sz="2100" dirty="0"/>
              <a:t>The mathematics, etc., behind those standards seemed in principle to apply to space, but it was unknown if in practice there might not be “gotcha’s” lurking there.</a:t>
            </a:r>
          </a:p>
          <a:p>
            <a:pPr lvl="1"/>
            <a:r>
              <a:rPr lang="en-US" sz="2100" dirty="0"/>
              <a:t>Specifically, 3D without Time is appropriate for motion of typical objects on or around the surface of the Earth, but in Space distances and velocities are often far greater, requiring that Speed-of-Light considerations be incorporated.</a:t>
            </a:r>
            <a:endParaRPr lang="en-US" dirty="0"/>
          </a:p>
          <a:p>
            <a:r>
              <a:rPr lang="en-US" sz="2400" dirty="0"/>
              <a:t>Opportunities:</a:t>
            </a:r>
          </a:p>
          <a:p>
            <a:pPr lvl="1"/>
            <a:r>
              <a:rPr lang="en-US" sz="2100" dirty="0"/>
              <a:t>If key parts of the existing standards could be generalized from Earth-centric to Space, and from 3D to 3D+Time, then a large body of standards might become immediately applicable.</a:t>
            </a:r>
          </a:p>
          <a:p>
            <a:endParaRPr lang="en-US" dirty="0"/>
          </a:p>
        </p:txBody>
      </p:sp>
      <p:sp>
        <p:nvSpPr>
          <p:cNvPr id="4" name="Google Shape;142;p14">
            <a:extLst>
              <a:ext uri="{FF2B5EF4-FFF2-40B4-BE49-F238E27FC236}">
                <a16:creationId xmlns:a16="http://schemas.microsoft.com/office/drawing/2014/main" id="{EB5ABFAD-E4C6-0330-A9DF-3E0119EFA4DF}"/>
              </a:ext>
            </a:extLst>
          </p:cNvPr>
          <p:cNvSpPr txBox="1">
            <a:spLocks/>
          </p:cNvSpPr>
          <p:nvPr/>
        </p:nvSpPr>
        <p:spPr>
          <a:xfrm>
            <a:off x="603250" y="1192832"/>
            <a:ext cx="10985500" cy="46739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22850" tIns="22850" rIns="22850" bIns="22850" anchor="t" anchorCtr="0">
            <a:normAutofit/>
          </a:bodyPr>
          <a:lstStyle>
            <a:lvl1pPr marL="3048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a:lstStyle>
          <a:p>
            <a:pPr marL="0" indent="0">
              <a:spcBef>
                <a:spcPts val="0"/>
              </a:spcBef>
              <a:buSzPct val="107843"/>
              <a:buNone/>
            </a:pPr>
            <a:r>
              <a:rPr lang="en-US" sz="2700" b="1" dirty="0"/>
              <a:t>Challenges and Opportunities</a:t>
            </a:r>
          </a:p>
          <a:p>
            <a:pPr marL="0" indent="0"/>
            <a:endParaRPr lang="en-US" dirty="0"/>
          </a:p>
        </p:txBody>
      </p:sp>
    </p:spTree>
    <p:extLst>
      <p:ext uri="{BB962C8B-B14F-4D97-AF65-F5344CB8AC3E}">
        <p14:creationId xmlns:p14="http://schemas.microsoft.com/office/powerpoint/2010/main" val="85757542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7F4F7-651C-1DBF-FF0F-49C14DF4AEFD}"/>
              </a:ext>
            </a:extLst>
          </p:cNvPr>
          <p:cNvSpPr>
            <a:spLocks noGrp="1"/>
          </p:cNvSpPr>
          <p:nvPr>
            <p:ph type="title"/>
          </p:nvPr>
        </p:nvSpPr>
        <p:spPr/>
        <p:txBody>
          <a:bodyPr/>
          <a:lstStyle/>
          <a:p>
            <a:r>
              <a:rPr lang="en-US" dirty="0"/>
              <a:t>Previous Work, Current Scope, Scenario</a:t>
            </a:r>
          </a:p>
        </p:txBody>
      </p:sp>
      <p:sp>
        <p:nvSpPr>
          <p:cNvPr id="3" name="Text Placeholder 2">
            <a:extLst>
              <a:ext uri="{FF2B5EF4-FFF2-40B4-BE49-F238E27FC236}">
                <a16:creationId xmlns:a16="http://schemas.microsoft.com/office/drawing/2014/main" id="{C3AF1B8D-40E3-D593-D3FD-70CCA7642A32}"/>
              </a:ext>
            </a:extLst>
          </p:cNvPr>
          <p:cNvSpPr>
            <a:spLocks noGrp="1"/>
          </p:cNvSpPr>
          <p:nvPr>
            <p:ph type="body" idx="1"/>
          </p:nvPr>
        </p:nvSpPr>
        <p:spPr>
          <a:xfrm>
            <a:off x="603250" y="1744579"/>
            <a:ext cx="10985500" cy="4507679"/>
          </a:xfrm>
        </p:spPr>
        <p:txBody>
          <a:bodyPr>
            <a:normAutofit fontScale="70000" lnSpcReduction="20000"/>
          </a:bodyPr>
          <a:lstStyle/>
          <a:p>
            <a:r>
              <a:rPr lang="en-US" sz="2900" dirty="0"/>
              <a:t>Task: evaluate OGC Standards for the potential use in non-Terrestrial environments</a:t>
            </a:r>
          </a:p>
          <a:p>
            <a:pPr marL="819150" lvl="1" indent="-514350">
              <a:buFont typeface="+mj-lt"/>
              <a:buAutoNum type="arabicPeriod"/>
            </a:pPr>
            <a:r>
              <a:rPr lang="en-US" sz="2600" dirty="0"/>
              <a:t>Evaluate existing standards in regard to their ability to represent a full suite of multi-dimension Coordinate Reference Systems (CRS) and the associated geometries. Identify shortfalls and propose steps to resolve them. </a:t>
            </a:r>
          </a:p>
          <a:p>
            <a:pPr marL="819150" lvl="1" indent="-514350">
              <a:buFont typeface="+mj-lt"/>
              <a:buAutoNum type="arabicPeriod"/>
            </a:pPr>
            <a:r>
              <a:rPr lang="en-US" sz="2600" dirty="0"/>
              <a:t>Build on the work in #1 with a focus on objects in orbit of a celestial object or in free flight in our solar system.</a:t>
            </a:r>
          </a:p>
          <a:p>
            <a:pPr marL="819150" lvl="1" indent="-514350">
              <a:buFont typeface="+mj-lt"/>
              <a:buAutoNum type="arabicPeriod"/>
            </a:pPr>
            <a:r>
              <a:rPr lang="en-US" sz="2600" dirty="0"/>
              <a:t>Develop a framework to standardize the transformation of locations across 3D+ CRS. </a:t>
            </a:r>
          </a:p>
          <a:p>
            <a:pPr marL="819150" lvl="1" indent="-514350">
              <a:buFont typeface="+mj-lt"/>
              <a:buAutoNum type="arabicPeriod"/>
            </a:pPr>
            <a:r>
              <a:rPr lang="en-US" sz="2600" dirty="0"/>
              <a:t>Evaluate support for 3D+ data in existing streaming and portrayal standards. Identify requirements for new or enhancements to existing standards</a:t>
            </a:r>
          </a:p>
          <a:p>
            <a:r>
              <a:rPr lang="en-US" sz="2800" dirty="0"/>
              <a:t>Objective and Scope</a:t>
            </a:r>
          </a:p>
          <a:p>
            <a:pPr marL="685800" lvl="1" indent="-342900">
              <a:buFont typeface="Arial" panose="020B0604020202020204" pitchFamily="34" charset="0"/>
              <a:buChar char="•"/>
            </a:pPr>
            <a:r>
              <a:rPr lang="en-US" sz="2600" dirty="0"/>
              <a:t>Objective: minimize changes to existing standards and technologies while maximizing the ability for those technologies to support Space missions.</a:t>
            </a:r>
          </a:p>
          <a:p>
            <a:pPr marL="685800" lvl="1" indent="-342900">
              <a:buFont typeface="Arial" panose="020B0604020202020204" pitchFamily="34" charset="0"/>
              <a:buChar char="•"/>
            </a:pPr>
            <a:r>
              <a:rPr lang="en-US" sz="2600" dirty="0"/>
              <a:t>Scope: the Solar System</a:t>
            </a:r>
          </a:p>
          <a:p>
            <a:r>
              <a:rPr lang="en-US" sz="2800" dirty="0"/>
              <a:t>Scenario: Very fast-moving outside-of-Earth/Moon system travel.</a:t>
            </a:r>
          </a:p>
          <a:p>
            <a:r>
              <a:rPr lang="en-US" sz="2800" dirty="0"/>
              <a:t>Scenario: Non-Earth planetary installations</a:t>
            </a:r>
          </a:p>
          <a:p>
            <a:endParaRPr lang="en-US" dirty="0"/>
          </a:p>
        </p:txBody>
      </p:sp>
      <p:sp>
        <p:nvSpPr>
          <p:cNvPr id="4" name="Google Shape;142;p14">
            <a:extLst>
              <a:ext uri="{FF2B5EF4-FFF2-40B4-BE49-F238E27FC236}">
                <a16:creationId xmlns:a16="http://schemas.microsoft.com/office/drawing/2014/main" id="{D046D389-2CCD-50C5-3E6B-BF3B38F1C755}"/>
              </a:ext>
            </a:extLst>
          </p:cNvPr>
          <p:cNvSpPr txBox="1">
            <a:spLocks/>
          </p:cNvSpPr>
          <p:nvPr/>
        </p:nvSpPr>
        <p:spPr>
          <a:xfrm>
            <a:off x="603250" y="1192832"/>
            <a:ext cx="10985500" cy="46739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22850" tIns="22850" rIns="22850" bIns="22850" anchor="t" anchorCtr="0">
            <a:noAutofit/>
          </a:bodyPr>
          <a:lstStyle>
            <a:lvl1pPr marL="3048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a:lstStyle>
          <a:p>
            <a:pPr marL="0" indent="0">
              <a:spcBef>
                <a:spcPts val="0"/>
              </a:spcBef>
              <a:buNone/>
            </a:pPr>
            <a:r>
              <a:rPr lang="en-US" sz="2500" b="1" dirty="0"/>
              <a:t>TB-18 Tasking for 3D+</a:t>
            </a:r>
          </a:p>
        </p:txBody>
      </p:sp>
    </p:spTree>
    <p:extLst>
      <p:ext uri="{BB962C8B-B14F-4D97-AF65-F5344CB8AC3E}">
        <p14:creationId xmlns:p14="http://schemas.microsoft.com/office/powerpoint/2010/main" val="35849481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91174-E9B1-1F27-4E23-6D300C73C864}"/>
              </a:ext>
            </a:extLst>
          </p:cNvPr>
          <p:cNvSpPr>
            <a:spLocks noGrp="1"/>
          </p:cNvSpPr>
          <p:nvPr>
            <p:ph type="title"/>
          </p:nvPr>
        </p:nvSpPr>
        <p:spPr/>
        <p:txBody>
          <a:bodyPr/>
          <a:lstStyle/>
          <a:p>
            <a:r>
              <a:rPr lang="en-US" dirty="0"/>
              <a:t>Findings &amp; Results</a:t>
            </a:r>
          </a:p>
        </p:txBody>
      </p:sp>
      <p:sp>
        <p:nvSpPr>
          <p:cNvPr id="3" name="Text Placeholder 2">
            <a:extLst>
              <a:ext uri="{FF2B5EF4-FFF2-40B4-BE49-F238E27FC236}">
                <a16:creationId xmlns:a16="http://schemas.microsoft.com/office/drawing/2014/main" id="{C98220D6-1997-F514-E2B7-B82FB461A82A}"/>
              </a:ext>
            </a:extLst>
          </p:cNvPr>
          <p:cNvSpPr>
            <a:spLocks noGrp="1"/>
          </p:cNvSpPr>
          <p:nvPr>
            <p:ph type="body" idx="1"/>
          </p:nvPr>
        </p:nvSpPr>
        <p:spPr>
          <a:xfrm>
            <a:off x="603250" y="1672389"/>
            <a:ext cx="10985500" cy="4579869"/>
          </a:xfrm>
        </p:spPr>
        <p:txBody>
          <a:bodyPr>
            <a:normAutofit/>
          </a:bodyPr>
          <a:lstStyle/>
          <a:p>
            <a:r>
              <a:rPr lang="en-US" sz="2000" dirty="0"/>
              <a:t>OGC conceptual standards can deal with 3D+ (</a:t>
            </a:r>
            <a:r>
              <a:rPr lang="en-US" sz="2000" dirty="0" err="1"/>
              <a:t>SpaceTime</a:t>
            </a:r>
            <a:r>
              <a:rPr lang="en-US" sz="2000" dirty="0"/>
              <a:t>) geometries.</a:t>
            </a:r>
          </a:p>
          <a:p>
            <a:r>
              <a:rPr lang="en-US" sz="2000" dirty="0"/>
              <a:t>Identified the need for a new OGC Working Group to address Space Standards.</a:t>
            </a:r>
          </a:p>
          <a:p>
            <a:r>
              <a:rPr lang="en-US" sz="2000" dirty="0"/>
              <a:t>Produced a set of useful Engineering Reports:</a:t>
            </a:r>
          </a:p>
          <a:p>
            <a:pPr lvl="1"/>
            <a:r>
              <a:rPr lang="en-US" sz="2000" dirty="0"/>
              <a:t>Standards Framework Engineering Report – Describing the ability of existing standards to support 3D+ Features and identifies areas of future work.</a:t>
            </a:r>
          </a:p>
          <a:p>
            <a:pPr lvl="1"/>
            <a:r>
              <a:rPr lang="en-US" sz="2000" dirty="0"/>
              <a:t>Data Space Object Engineering Report – Providing an overview of the 3D+ space, how it differs from traditional Geospatial, and provides short tutorials on key concepts.</a:t>
            </a:r>
          </a:p>
          <a:p>
            <a:pPr lvl="1"/>
            <a:r>
              <a:rPr lang="en-US" sz="2000" dirty="0"/>
              <a:t>Reference Frame Transformation Engineering Report - describing a standards-based mechanisms to transform location within a reference frame to a location in another reference frame.</a:t>
            </a:r>
          </a:p>
          <a:p>
            <a:pPr lvl="1"/>
            <a:r>
              <a:rPr lang="en-US" sz="2000" dirty="0"/>
              <a:t>Data Streaming Engineering Report - describing how to extend existing OGC streaming standards to support multi dimensional data.</a:t>
            </a:r>
          </a:p>
          <a:p>
            <a:endParaRPr lang="en-US" dirty="0"/>
          </a:p>
        </p:txBody>
      </p:sp>
      <p:sp>
        <p:nvSpPr>
          <p:cNvPr id="4" name="Google Shape;142;p14">
            <a:extLst>
              <a:ext uri="{FF2B5EF4-FFF2-40B4-BE49-F238E27FC236}">
                <a16:creationId xmlns:a16="http://schemas.microsoft.com/office/drawing/2014/main" id="{4EBC0024-4D2C-A754-4B61-C35F280A7643}"/>
              </a:ext>
            </a:extLst>
          </p:cNvPr>
          <p:cNvSpPr txBox="1">
            <a:spLocks/>
          </p:cNvSpPr>
          <p:nvPr/>
        </p:nvSpPr>
        <p:spPr>
          <a:xfrm>
            <a:off x="603250" y="1110317"/>
            <a:ext cx="10985500" cy="46739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22850" tIns="22850" rIns="22850" bIns="22850" anchor="t" anchorCtr="0">
            <a:normAutofit/>
          </a:bodyPr>
          <a:lstStyle>
            <a:lvl1pPr marL="3048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a:lstStyle>
          <a:p>
            <a:pPr marL="0" indent="0">
              <a:spcBef>
                <a:spcPts val="0"/>
              </a:spcBef>
              <a:buNone/>
            </a:pPr>
            <a:r>
              <a:rPr lang="en-US" b="1" dirty="0"/>
              <a:t>A set of conceptual standards that deal with </a:t>
            </a:r>
            <a:r>
              <a:rPr lang="en-US" b="1" dirty="0" err="1"/>
              <a:t>SpaceTime</a:t>
            </a:r>
            <a:endParaRPr lang="en-US" b="1" dirty="0"/>
          </a:p>
        </p:txBody>
      </p:sp>
    </p:spTree>
    <p:extLst>
      <p:ext uri="{BB962C8B-B14F-4D97-AF65-F5344CB8AC3E}">
        <p14:creationId xmlns:p14="http://schemas.microsoft.com/office/powerpoint/2010/main" val="215265401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DC6ED-96B2-C6B0-01E5-126BFC468A04}"/>
              </a:ext>
            </a:extLst>
          </p:cNvPr>
          <p:cNvSpPr>
            <a:spLocks noGrp="1"/>
          </p:cNvSpPr>
          <p:nvPr>
            <p:ph type="title"/>
          </p:nvPr>
        </p:nvSpPr>
        <p:spPr/>
        <p:txBody>
          <a:bodyPr/>
          <a:lstStyle/>
          <a:p>
            <a:r>
              <a:rPr lang="en-US" dirty="0"/>
              <a:t>Testbed 18 - Conclusions</a:t>
            </a:r>
          </a:p>
        </p:txBody>
      </p:sp>
      <p:sp>
        <p:nvSpPr>
          <p:cNvPr id="3" name="Text Placeholder 2">
            <a:extLst>
              <a:ext uri="{FF2B5EF4-FFF2-40B4-BE49-F238E27FC236}">
                <a16:creationId xmlns:a16="http://schemas.microsoft.com/office/drawing/2014/main" id="{40B7A78B-F07C-8BD0-5D5F-1558F8EE48E4}"/>
              </a:ext>
            </a:extLst>
          </p:cNvPr>
          <p:cNvSpPr>
            <a:spLocks noGrp="1"/>
          </p:cNvSpPr>
          <p:nvPr>
            <p:ph type="body" idx="1"/>
          </p:nvPr>
        </p:nvSpPr>
        <p:spPr>
          <a:xfrm>
            <a:off x="603250" y="1192832"/>
            <a:ext cx="10985500" cy="5188918"/>
          </a:xfrm>
        </p:spPr>
        <p:txBody>
          <a:bodyPr>
            <a:normAutofit/>
          </a:bodyPr>
          <a:lstStyle/>
          <a:p>
            <a:pPr marL="338138">
              <a:lnSpc>
                <a:spcPct val="110000"/>
              </a:lnSpc>
              <a:spcBef>
                <a:spcPts val="600"/>
              </a:spcBef>
            </a:pPr>
            <a:r>
              <a:rPr lang="en-US" sz="2000" dirty="0"/>
              <a:t>Conclusion – OGC standards are surprisingly suitable for non-terrestrial use.  Primary issues are the lack of suitable spatial reference systems and more robust CRS transformation capabilities.  </a:t>
            </a:r>
          </a:p>
          <a:p>
            <a:pPr marL="338138">
              <a:lnSpc>
                <a:spcPct val="110000"/>
              </a:lnSpc>
              <a:spcBef>
                <a:spcPts val="600"/>
              </a:spcBef>
            </a:pPr>
            <a:r>
              <a:rPr lang="en-US" sz="2000" dirty="0"/>
              <a:t>This conclusion only applies to conceptual OGC standards.  Decisions made in producing derivative standards may constrain those standards to terrestrial applications.</a:t>
            </a:r>
          </a:p>
          <a:p>
            <a:pPr marL="0">
              <a:lnSpc>
                <a:spcPct val="110000"/>
              </a:lnSpc>
              <a:spcBef>
                <a:spcPts val="600"/>
              </a:spcBef>
            </a:pPr>
            <a:r>
              <a:rPr lang="en-US" sz="2000" dirty="0"/>
              <a:t>Coverage and imagery standards are more likely to have restrictions. </a:t>
            </a:r>
          </a:p>
          <a:p>
            <a:pPr marL="0">
              <a:lnSpc>
                <a:spcPct val="110000"/>
              </a:lnSpc>
              <a:spcBef>
                <a:spcPts val="600"/>
              </a:spcBef>
            </a:pPr>
            <a:r>
              <a:rPr lang="en-US" sz="2000" dirty="0"/>
              <a:t>Biggest issue – everything is moving.  Properties must be classified as: </a:t>
            </a:r>
          </a:p>
          <a:p>
            <a:pPr marL="609600" lvl="2">
              <a:lnSpc>
                <a:spcPct val="110000"/>
              </a:lnSpc>
              <a:spcBef>
                <a:spcPts val="600"/>
              </a:spcBef>
            </a:pPr>
            <a:r>
              <a:rPr lang="en-US" sz="2000" dirty="0"/>
              <a:t>Proper – measurement was taken in the same CRS as the property measured.</a:t>
            </a:r>
          </a:p>
          <a:p>
            <a:pPr marL="609600" lvl="2">
              <a:lnSpc>
                <a:spcPct val="110000"/>
              </a:lnSpc>
              <a:spcBef>
                <a:spcPts val="600"/>
              </a:spcBef>
            </a:pPr>
            <a:r>
              <a:rPr lang="en-US" sz="2000" dirty="0"/>
              <a:t>Observed – measurement was taken in a CRS remote from the CRS of the property measured.</a:t>
            </a:r>
          </a:p>
          <a:p>
            <a:pPr marL="474663" indent="-417513">
              <a:lnSpc>
                <a:spcPct val="110000"/>
              </a:lnSpc>
              <a:spcBef>
                <a:spcPts val="600"/>
              </a:spcBef>
            </a:pPr>
            <a:r>
              <a:rPr lang="en-US" sz="2000" dirty="0"/>
              <a:t>Bonus – TB-18 participants also identified non-terrestrial SRS definitions and demonstrated coordinate transformations between those reference systems.</a:t>
            </a:r>
          </a:p>
        </p:txBody>
      </p:sp>
    </p:spTree>
    <p:extLst>
      <p:ext uri="{BB962C8B-B14F-4D97-AF65-F5344CB8AC3E}">
        <p14:creationId xmlns:p14="http://schemas.microsoft.com/office/powerpoint/2010/main" val="4000557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26F8-6654-2CC1-BC36-3257841AEE33}"/>
              </a:ext>
            </a:extLst>
          </p:cNvPr>
          <p:cNvSpPr>
            <a:spLocks noGrp="1"/>
          </p:cNvSpPr>
          <p:nvPr>
            <p:ph type="title"/>
          </p:nvPr>
        </p:nvSpPr>
        <p:spPr/>
        <p:txBody>
          <a:bodyPr/>
          <a:lstStyle/>
          <a:p>
            <a:r>
              <a:rPr lang="en-US" dirty="0"/>
              <a:t>Testbed 19</a:t>
            </a:r>
          </a:p>
        </p:txBody>
      </p:sp>
      <p:sp>
        <p:nvSpPr>
          <p:cNvPr id="3" name="Content Placeholder 2">
            <a:extLst>
              <a:ext uri="{FF2B5EF4-FFF2-40B4-BE49-F238E27FC236}">
                <a16:creationId xmlns:a16="http://schemas.microsoft.com/office/drawing/2014/main" id="{1A1227C2-6736-342F-0C0F-C9A24628567D}"/>
              </a:ext>
            </a:extLst>
          </p:cNvPr>
          <p:cNvSpPr>
            <a:spLocks noGrp="1"/>
          </p:cNvSpPr>
          <p:nvPr>
            <p:ph idx="1"/>
          </p:nvPr>
        </p:nvSpPr>
        <p:spPr>
          <a:xfrm>
            <a:off x="603250" y="1768642"/>
            <a:ext cx="10985500" cy="3996563"/>
          </a:xfrm>
        </p:spPr>
        <p:txBody>
          <a:bodyPr>
            <a:normAutofit/>
          </a:bodyPr>
          <a:lstStyle/>
          <a:p>
            <a:pPr>
              <a:lnSpc>
                <a:spcPct val="100000"/>
              </a:lnSpc>
              <a:spcBef>
                <a:spcPts val="1200"/>
              </a:spcBef>
            </a:pPr>
            <a:r>
              <a:rPr lang="en-US" dirty="0"/>
              <a:t>Testbed 18 was a paper study</a:t>
            </a:r>
          </a:p>
          <a:p>
            <a:pPr>
              <a:lnSpc>
                <a:spcPct val="100000"/>
              </a:lnSpc>
              <a:spcBef>
                <a:spcPts val="1200"/>
              </a:spcBef>
            </a:pPr>
            <a:r>
              <a:rPr lang="en-US" dirty="0"/>
              <a:t>Testbed 19 will attempt to build it</a:t>
            </a:r>
          </a:p>
          <a:p>
            <a:pPr>
              <a:lnSpc>
                <a:spcPct val="100000"/>
              </a:lnSpc>
              <a:spcBef>
                <a:spcPts val="1200"/>
              </a:spcBef>
            </a:pPr>
            <a:r>
              <a:rPr lang="en-US" dirty="0"/>
              <a:t>Scenarios</a:t>
            </a:r>
          </a:p>
          <a:p>
            <a:pPr lvl="1">
              <a:lnSpc>
                <a:spcPct val="100000"/>
              </a:lnSpc>
              <a:spcBef>
                <a:spcPts val="1200"/>
              </a:spcBef>
            </a:pPr>
            <a:r>
              <a:rPr lang="en-US" dirty="0"/>
              <a:t>The Double Asteroid Redirection Test (</a:t>
            </a:r>
            <a:r>
              <a:rPr lang="en-US" dirty="0">
                <a:hlinkClick r:id="rId2"/>
              </a:rPr>
              <a:t>DART</a:t>
            </a:r>
            <a:r>
              <a:rPr lang="en-US" dirty="0"/>
              <a:t>)</a:t>
            </a:r>
          </a:p>
          <a:p>
            <a:pPr lvl="1">
              <a:lnSpc>
                <a:spcPct val="100000"/>
              </a:lnSpc>
              <a:spcBef>
                <a:spcPts val="1200"/>
              </a:spcBef>
            </a:pPr>
            <a:r>
              <a:rPr lang="en-US" dirty="0"/>
              <a:t>Non-terrestrial GEOTIFF</a:t>
            </a:r>
          </a:p>
        </p:txBody>
      </p:sp>
      <p:sp>
        <p:nvSpPr>
          <p:cNvPr id="4" name="Google Shape;142;p14">
            <a:extLst>
              <a:ext uri="{FF2B5EF4-FFF2-40B4-BE49-F238E27FC236}">
                <a16:creationId xmlns:a16="http://schemas.microsoft.com/office/drawing/2014/main" id="{ED11A497-647F-3EC8-6012-A607F4703470}"/>
              </a:ext>
            </a:extLst>
          </p:cNvPr>
          <p:cNvSpPr txBox="1">
            <a:spLocks/>
          </p:cNvSpPr>
          <p:nvPr/>
        </p:nvSpPr>
        <p:spPr>
          <a:xfrm>
            <a:off x="603250" y="1092795"/>
            <a:ext cx="10985500" cy="467390"/>
          </a:xfrm>
          <a:prstGeom prst="rect">
            <a:avLst/>
          </a:prstGeom>
          <a:noFill/>
          <a:ln w="12700">
            <a:noFill/>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spcFirstLastPara="1" wrap="square" lIns="22850" tIns="22850" rIns="22850" bIns="22850" anchor="t" anchorCtr="0">
            <a:normAutofit/>
          </a:bodyPr>
          <a:lstStyle>
            <a:lvl1pPr marL="3048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1pPr>
            <a:lvl2pPr marL="6096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2pPr>
            <a:lvl3pPr marL="9144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3pPr>
            <a:lvl4pPr marL="12192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4pPr>
            <a:lvl5pPr marL="1524000" marR="0" indent="-304800" algn="l" defTabSz="1219169" rtl="0" eaLnBrk="1" latinLnBrk="0" hangingPunct="1">
              <a:lnSpc>
                <a:spcPct val="100000"/>
              </a:lnSpc>
              <a:spcBef>
                <a:spcPts val="7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5pPr>
            <a:lvl6pPr marL="18288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6pPr>
            <a:lvl7pPr marL="21336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7pPr>
            <a:lvl8pPr marL="24384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8pPr>
            <a:lvl9pPr marL="2743200" marR="0" indent="-304800" algn="l" defTabSz="1219169" rtl="0" eaLnBrk="1" latinLnBrk="0" hangingPunct="1">
              <a:lnSpc>
                <a:spcPct val="90000"/>
              </a:lnSpc>
              <a:spcBef>
                <a:spcPts val="2250"/>
              </a:spcBef>
              <a:spcAft>
                <a:spcPts val="0"/>
              </a:spcAft>
              <a:buClr>
                <a:srgbClr val="00B1FF"/>
              </a:buClr>
              <a:buSzPct val="123000"/>
              <a:buFontTx/>
              <a:buChar char="•"/>
              <a:tabLst/>
              <a:defRPr sz="2400" b="0" i="0" u="none" strike="noStrike" cap="none" spc="0" baseline="0">
                <a:solidFill>
                  <a:srgbClr val="000000"/>
                </a:solidFill>
                <a:uFillTx/>
                <a:latin typeface="+mn-lt"/>
                <a:ea typeface="+mn-ea"/>
                <a:cs typeface="+mn-cs"/>
                <a:sym typeface="Arial"/>
              </a:defRPr>
            </a:lvl9pPr>
          </a:lstStyle>
          <a:p>
            <a:pPr marL="0" indent="0">
              <a:spcBef>
                <a:spcPts val="0"/>
              </a:spcBef>
              <a:buSzPct val="107843"/>
              <a:buNone/>
            </a:pPr>
            <a:r>
              <a:rPr lang="en-US" sz="2700" b="1" dirty="0"/>
              <a:t>Challenges and Opportunities</a:t>
            </a:r>
          </a:p>
        </p:txBody>
      </p:sp>
    </p:spTree>
    <p:extLst>
      <p:ext uri="{BB962C8B-B14F-4D97-AF65-F5344CB8AC3E}">
        <p14:creationId xmlns:p14="http://schemas.microsoft.com/office/powerpoint/2010/main" val="3067021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D26F8-6654-2CC1-BC36-3257841AEE33}"/>
              </a:ext>
            </a:extLst>
          </p:cNvPr>
          <p:cNvSpPr>
            <a:spLocks noGrp="1"/>
          </p:cNvSpPr>
          <p:nvPr>
            <p:ph type="title"/>
          </p:nvPr>
        </p:nvSpPr>
        <p:spPr/>
        <p:txBody>
          <a:bodyPr/>
          <a:lstStyle/>
          <a:p>
            <a:r>
              <a:rPr lang="en-US" dirty="0"/>
              <a:t>Testbed 19</a:t>
            </a:r>
          </a:p>
        </p:txBody>
      </p:sp>
      <p:sp>
        <p:nvSpPr>
          <p:cNvPr id="3" name="Content Placeholder 2">
            <a:extLst>
              <a:ext uri="{FF2B5EF4-FFF2-40B4-BE49-F238E27FC236}">
                <a16:creationId xmlns:a16="http://schemas.microsoft.com/office/drawing/2014/main" id="{1A1227C2-6736-342F-0C0F-C9A24628567D}"/>
              </a:ext>
            </a:extLst>
          </p:cNvPr>
          <p:cNvSpPr>
            <a:spLocks noGrp="1"/>
          </p:cNvSpPr>
          <p:nvPr>
            <p:ph idx="1"/>
          </p:nvPr>
        </p:nvSpPr>
        <p:spPr>
          <a:xfrm>
            <a:off x="603250" y="1192831"/>
            <a:ext cx="10985500" cy="4993479"/>
          </a:xfrm>
        </p:spPr>
        <p:txBody>
          <a:bodyPr>
            <a:normAutofit fontScale="62500" lnSpcReduction="20000"/>
          </a:bodyPr>
          <a:lstStyle/>
          <a:p>
            <a:pPr>
              <a:lnSpc>
                <a:spcPct val="100000"/>
              </a:lnSpc>
              <a:spcBef>
                <a:spcPts val="1200"/>
              </a:spcBef>
            </a:pPr>
            <a:r>
              <a:rPr lang="en-US" b="1" dirty="0"/>
              <a:t>Problem statement </a:t>
            </a:r>
            <a:r>
              <a:rPr lang="en-US" dirty="0"/>
              <a:t>– free OGC standards and technologies from Terrestrial constraints. Allow geospatial analytic tools and techniques to be used on other astronomical bodies as well as in deep space. Fully integrate the terrestrial and extraterrestrial analytic toolset and processes.</a:t>
            </a:r>
          </a:p>
          <a:p>
            <a:pPr>
              <a:lnSpc>
                <a:spcPct val="100000"/>
              </a:lnSpc>
              <a:spcBef>
                <a:spcPts val="1200"/>
              </a:spcBef>
            </a:pPr>
            <a:r>
              <a:rPr lang="en-US" b="1" dirty="0"/>
              <a:t>Approach</a:t>
            </a:r>
          </a:p>
          <a:p>
            <a:pPr marL="762000" lvl="1" indent="-457200">
              <a:lnSpc>
                <a:spcPct val="100000"/>
              </a:lnSpc>
              <a:spcBef>
                <a:spcPts val="1200"/>
              </a:spcBef>
              <a:buFont typeface="+mj-lt"/>
              <a:buAutoNum type="arabicPeriod"/>
            </a:pPr>
            <a:r>
              <a:rPr lang="en-US" dirty="0"/>
              <a:t>Extend the architecture and draft standards for Moving Feature content developed through Testbed-18 to support 3D (six degrees of freedom) and 4D (spacetime) geometries.</a:t>
            </a:r>
          </a:p>
          <a:p>
            <a:pPr marL="762000" lvl="1" indent="-457200">
              <a:lnSpc>
                <a:spcPct val="100000"/>
              </a:lnSpc>
              <a:spcBef>
                <a:spcPts val="1200"/>
              </a:spcBef>
              <a:buFont typeface="+mj-lt"/>
              <a:buAutoNum type="arabicPeriod"/>
            </a:pPr>
            <a:r>
              <a:rPr lang="en-US" dirty="0"/>
              <a:t>Develop ISO 19111 conformant definitions for non-Earth planetary Coordinate Reference Systems. Register those definitions in a Coordinate Reference System registry. This should include at a minimum a CRS for the Moon and Mars.</a:t>
            </a:r>
          </a:p>
          <a:p>
            <a:pPr marL="762000" lvl="1" indent="-457200">
              <a:lnSpc>
                <a:spcPct val="100000"/>
              </a:lnSpc>
              <a:spcBef>
                <a:spcPts val="1200"/>
              </a:spcBef>
              <a:buFont typeface="+mj-lt"/>
              <a:buAutoNum type="arabicPeriod"/>
            </a:pPr>
            <a:r>
              <a:rPr lang="en-US" dirty="0"/>
              <a:t>Develop a Spatial Reference System definition for </a:t>
            </a:r>
            <a:r>
              <a:rPr lang="en-US" dirty="0" err="1"/>
              <a:t>Minkowski</a:t>
            </a:r>
            <a:r>
              <a:rPr lang="en-US" dirty="0"/>
              <a:t> spacetime based on ISO 19111 and ISO 19108. Identify any required modifications to those standards. Register that definition in a CRS registry.</a:t>
            </a:r>
          </a:p>
          <a:p>
            <a:pPr marL="762000" lvl="1" indent="-457200">
              <a:lnSpc>
                <a:spcPct val="100000"/>
              </a:lnSpc>
              <a:spcBef>
                <a:spcPts val="1200"/>
              </a:spcBef>
              <a:buFont typeface="+mj-lt"/>
              <a:buAutoNum type="arabicPeriod"/>
            </a:pPr>
            <a:r>
              <a:rPr lang="en-US" dirty="0"/>
              <a:t>Explore the ability for existing Moving Features standards and software to work with the non-Terrestrial CRS (#2) and spacetime CRS (#3). Identify shortfalls and propose solutions.</a:t>
            </a:r>
          </a:p>
          <a:p>
            <a:pPr marL="762000" lvl="1" indent="-457200">
              <a:lnSpc>
                <a:spcPct val="100000"/>
              </a:lnSpc>
              <a:spcBef>
                <a:spcPts val="1200"/>
              </a:spcBef>
              <a:buFont typeface="+mj-lt"/>
              <a:buAutoNum type="arabicPeriod"/>
            </a:pPr>
            <a:r>
              <a:rPr lang="en-US" dirty="0"/>
              <a:t>Explore the ability for existing Moving Features standards and software to work with Moving Features traversing open space.</a:t>
            </a:r>
          </a:p>
          <a:p>
            <a:pPr marL="762000" lvl="1" indent="-457200">
              <a:lnSpc>
                <a:spcPct val="100000"/>
              </a:lnSpc>
              <a:spcBef>
                <a:spcPts val="1200"/>
              </a:spcBef>
              <a:buFont typeface="+mj-lt"/>
              <a:buAutoNum type="arabicPeriod"/>
            </a:pPr>
            <a:r>
              <a:rPr lang="en-US" dirty="0"/>
              <a:t>Develop and prototype standards for implementing a graph of coordinate transformations as described in Testbed-18: Reference Frame Transformation Engineering Report.</a:t>
            </a:r>
          </a:p>
          <a:p>
            <a:pPr marL="762000" lvl="1" indent="-457200">
              <a:lnSpc>
                <a:spcPct val="100000"/>
              </a:lnSpc>
              <a:spcBef>
                <a:spcPts val="1200"/>
              </a:spcBef>
              <a:buFont typeface="+mj-lt"/>
              <a:buAutoNum type="arabicPeriod"/>
            </a:pPr>
            <a:r>
              <a:rPr lang="en-US" dirty="0"/>
              <a:t>Research and prototype an effective approach to accommodate Lorentz space and time contractions within coordinate system transformations.</a:t>
            </a:r>
          </a:p>
          <a:p>
            <a:pPr marL="762000" lvl="1" indent="-457200">
              <a:lnSpc>
                <a:spcPct val="100000"/>
              </a:lnSpc>
              <a:spcBef>
                <a:spcPts val="1200"/>
              </a:spcBef>
              <a:buFont typeface="+mj-lt"/>
              <a:buAutoNum type="arabicPeriod"/>
            </a:pPr>
            <a:r>
              <a:rPr lang="en-US" dirty="0"/>
              <a:t>Develop one or more versions of </a:t>
            </a:r>
            <a:r>
              <a:rPr lang="en-US" dirty="0" err="1"/>
              <a:t>GeoTIFF</a:t>
            </a:r>
            <a:r>
              <a:rPr lang="en-US" dirty="0"/>
              <a:t> for extraterrestrial use. This should include the case where the corner coordinates are at infinity.</a:t>
            </a:r>
          </a:p>
        </p:txBody>
      </p:sp>
    </p:spTree>
    <p:extLst>
      <p:ext uri="{BB962C8B-B14F-4D97-AF65-F5344CB8AC3E}">
        <p14:creationId xmlns:p14="http://schemas.microsoft.com/office/powerpoint/2010/main" val="2428331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74A2-DE44-9AAE-3354-E640700E938C}"/>
              </a:ext>
            </a:extLst>
          </p:cNvPr>
          <p:cNvSpPr>
            <a:spLocks noGrp="1"/>
          </p:cNvSpPr>
          <p:nvPr>
            <p:ph type="title"/>
          </p:nvPr>
        </p:nvSpPr>
        <p:spPr/>
        <p:txBody>
          <a:bodyPr/>
          <a:lstStyle/>
          <a:p>
            <a:r>
              <a:rPr lang="en-US" dirty="0"/>
              <a:t>Going Forward</a:t>
            </a:r>
          </a:p>
        </p:txBody>
      </p:sp>
      <p:sp>
        <p:nvSpPr>
          <p:cNvPr id="3" name="Content Placeholder 2">
            <a:extLst>
              <a:ext uri="{FF2B5EF4-FFF2-40B4-BE49-F238E27FC236}">
                <a16:creationId xmlns:a16="http://schemas.microsoft.com/office/drawing/2014/main" id="{73F33484-D4DF-8290-8E3B-03700ED85A22}"/>
              </a:ext>
            </a:extLst>
          </p:cNvPr>
          <p:cNvSpPr>
            <a:spLocks noGrp="1"/>
          </p:cNvSpPr>
          <p:nvPr>
            <p:ph idx="1"/>
          </p:nvPr>
        </p:nvSpPr>
        <p:spPr>
          <a:xfrm>
            <a:off x="603250" y="1192832"/>
            <a:ext cx="10985500" cy="4128006"/>
          </a:xfrm>
        </p:spPr>
        <p:txBody>
          <a:bodyPr/>
          <a:lstStyle/>
          <a:p>
            <a:pPr>
              <a:lnSpc>
                <a:spcPct val="100000"/>
              </a:lnSpc>
              <a:spcBef>
                <a:spcPts val="1200"/>
              </a:spcBef>
            </a:pPr>
            <a:r>
              <a:rPr lang="en-US" dirty="0"/>
              <a:t>Problem – The Space Domain is very large. How do we decompose the Space Domain into manageable pieces?</a:t>
            </a:r>
          </a:p>
          <a:p>
            <a:pPr>
              <a:lnSpc>
                <a:spcPct val="100000"/>
              </a:lnSpc>
              <a:spcBef>
                <a:spcPts val="1200"/>
              </a:spcBef>
            </a:pPr>
            <a:r>
              <a:rPr lang="en-US" dirty="0"/>
              <a:t>Suggestion – Let’s explore the concept of a Spatial Data Infrastructure (SDI)</a:t>
            </a:r>
          </a:p>
        </p:txBody>
      </p:sp>
    </p:spTree>
    <p:extLst>
      <p:ext uri="{BB962C8B-B14F-4D97-AF65-F5344CB8AC3E}">
        <p14:creationId xmlns:p14="http://schemas.microsoft.com/office/powerpoint/2010/main" val="2371569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40581-61EE-1692-8AC0-007639B3A4BA}"/>
              </a:ext>
            </a:extLst>
          </p:cNvPr>
          <p:cNvSpPr>
            <a:spLocks noGrp="1"/>
          </p:cNvSpPr>
          <p:nvPr>
            <p:ph type="title"/>
          </p:nvPr>
        </p:nvSpPr>
        <p:spPr/>
        <p:txBody>
          <a:bodyPr/>
          <a:lstStyle/>
          <a:p>
            <a:r>
              <a:rPr lang="en-US" dirty="0"/>
              <a:t>Introduction to SDI</a:t>
            </a:r>
          </a:p>
        </p:txBody>
      </p:sp>
      <p:sp>
        <p:nvSpPr>
          <p:cNvPr id="3" name="Content Placeholder 2">
            <a:extLst>
              <a:ext uri="{FF2B5EF4-FFF2-40B4-BE49-F238E27FC236}">
                <a16:creationId xmlns:a16="http://schemas.microsoft.com/office/drawing/2014/main" id="{C02A4BBA-A4C4-5BC7-F969-FF6B11A155AA}"/>
              </a:ext>
            </a:extLst>
          </p:cNvPr>
          <p:cNvSpPr>
            <a:spLocks noGrp="1"/>
          </p:cNvSpPr>
          <p:nvPr>
            <p:ph idx="1"/>
          </p:nvPr>
        </p:nvSpPr>
        <p:spPr>
          <a:xfrm>
            <a:off x="603250" y="1192832"/>
            <a:ext cx="10985500" cy="4128006"/>
          </a:xfrm>
        </p:spPr>
        <p:txBody>
          <a:bodyPr/>
          <a:lstStyle/>
          <a:p>
            <a:pPr>
              <a:lnSpc>
                <a:spcPct val="100000"/>
              </a:lnSpc>
              <a:spcBef>
                <a:spcPts val="1200"/>
              </a:spcBef>
            </a:pPr>
            <a:r>
              <a:rPr lang="en-US" dirty="0"/>
              <a:t>A </a:t>
            </a:r>
            <a:r>
              <a:rPr lang="en-US" b="1" dirty="0"/>
              <a:t>spatial data infrastructure</a:t>
            </a:r>
            <a:r>
              <a:rPr lang="en-US" dirty="0"/>
              <a:t> (</a:t>
            </a:r>
            <a:r>
              <a:rPr lang="en-US" b="1" dirty="0"/>
              <a:t>SDI</a:t>
            </a:r>
            <a:r>
              <a:rPr lang="en-US" dirty="0"/>
              <a:t>) is a framework of spatial data, metadata, users and tools that are interactively connected in order to create, share, and use spatial data in an efficient and flexible way. </a:t>
            </a:r>
            <a:r>
              <a:rPr lang="en-US" baseline="30000" dirty="0"/>
              <a:t>1</a:t>
            </a:r>
          </a:p>
          <a:p>
            <a:pPr>
              <a:lnSpc>
                <a:spcPct val="100000"/>
              </a:lnSpc>
              <a:spcBef>
                <a:spcPts val="1200"/>
              </a:spcBef>
            </a:pPr>
            <a:r>
              <a:rPr lang="en-US" dirty="0"/>
              <a:t>Included in an SDI are not just the hardware, networking, and software required to physically manage the data, but also the appropriate policies, standards, and personnel to operate the infrastructure. </a:t>
            </a:r>
            <a:r>
              <a:rPr lang="en-US" baseline="30000" dirty="0"/>
              <a:t>2 </a:t>
            </a:r>
          </a:p>
          <a:p>
            <a:endParaRPr lang="en-US" dirty="0"/>
          </a:p>
        </p:txBody>
      </p:sp>
      <p:sp>
        <p:nvSpPr>
          <p:cNvPr id="4" name="TextBox 3">
            <a:extLst>
              <a:ext uri="{FF2B5EF4-FFF2-40B4-BE49-F238E27FC236}">
                <a16:creationId xmlns:a16="http://schemas.microsoft.com/office/drawing/2014/main" id="{C9DDDBEF-B5C4-CC73-B83B-6C2BBB85E476}"/>
              </a:ext>
            </a:extLst>
          </p:cNvPr>
          <p:cNvSpPr txBox="1"/>
          <p:nvPr/>
        </p:nvSpPr>
        <p:spPr>
          <a:xfrm>
            <a:off x="835377" y="5643731"/>
            <a:ext cx="8376355"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57200" marR="0" indent="-457200" algn="l" defTabSz="2438338" rtl="0" fontAlgn="auto" latinLnBrk="0" hangingPunct="0">
              <a:lnSpc>
                <a:spcPct val="100000"/>
              </a:lnSpc>
              <a:spcBef>
                <a:spcPts val="0"/>
              </a:spcBef>
              <a:spcAft>
                <a:spcPts val="0"/>
              </a:spcAft>
              <a:buClrTx/>
              <a:buSzTx/>
              <a:buFontTx/>
              <a:buAutoNum type="arabicParenR"/>
              <a:tabLst/>
            </a:pPr>
            <a:r>
              <a:rPr kumimoji="0" lang="en-US" sz="2000" b="0" i="0" u="none" strike="noStrike" cap="none" spc="0" normalizeH="0" baseline="0" dirty="0">
                <a:ln>
                  <a:noFill/>
                </a:ln>
                <a:solidFill>
                  <a:srgbClr val="262626"/>
                </a:solidFill>
                <a:effectLst/>
                <a:uFillTx/>
                <a:latin typeface="Mont Book"/>
                <a:ea typeface="Mont Book"/>
                <a:cs typeface="Mont Book"/>
                <a:sym typeface="Mont Book"/>
              </a:rPr>
              <a:t>wiki.gis.com</a:t>
            </a:r>
          </a:p>
          <a:p>
            <a:pPr marL="457200" marR="0" indent="-457200" algn="l" defTabSz="2438338" rtl="0" fontAlgn="auto" latinLnBrk="0" hangingPunct="0">
              <a:lnSpc>
                <a:spcPct val="100000"/>
              </a:lnSpc>
              <a:spcBef>
                <a:spcPts val="0"/>
              </a:spcBef>
              <a:spcAft>
                <a:spcPts val="0"/>
              </a:spcAft>
              <a:buClrTx/>
              <a:buSzTx/>
              <a:buFontTx/>
              <a:buAutoNum type="arabicParenR"/>
              <a:tabLst/>
            </a:pPr>
            <a:r>
              <a:rPr kumimoji="0" lang="en-US" sz="2000" b="0" i="0" u="none" strike="noStrike" cap="none" spc="0" normalizeH="0" baseline="0" dirty="0">
                <a:ln>
                  <a:noFill/>
                </a:ln>
                <a:solidFill>
                  <a:srgbClr val="262626"/>
                </a:solidFill>
                <a:effectLst/>
                <a:uFillTx/>
                <a:latin typeface="Mont Book"/>
                <a:ea typeface="Mont Book"/>
                <a:cs typeface="Mont Book"/>
                <a:sym typeface="Mont Book"/>
              </a:rPr>
              <a:t>Scott Simmons, in Comprehensive Geographic Information Systems, 2018</a:t>
            </a:r>
          </a:p>
        </p:txBody>
      </p:sp>
    </p:spTree>
    <p:extLst>
      <p:ext uri="{BB962C8B-B14F-4D97-AF65-F5344CB8AC3E}">
        <p14:creationId xmlns:p14="http://schemas.microsoft.com/office/powerpoint/2010/main" val="1000631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7FE71-EE7D-DF49-802F-6C6A0298AFAA}"/>
              </a:ext>
            </a:extLst>
          </p:cNvPr>
          <p:cNvSpPr>
            <a:spLocks noGrp="1"/>
          </p:cNvSpPr>
          <p:nvPr>
            <p:ph type="title"/>
          </p:nvPr>
        </p:nvSpPr>
        <p:spPr/>
        <p:txBody>
          <a:bodyPr/>
          <a:lstStyle/>
          <a:p>
            <a:r>
              <a:rPr lang="en-US" dirty="0"/>
              <a:t>Some SDIs</a:t>
            </a:r>
          </a:p>
        </p:txBody>
      </p:sp>
      <p:sp>
        <p:nvSpPr>
          <p:cNvPr id="3" name="Content Placeholder 2">
            <a:extLst>
              <a:ext uri="{FF2B5EF4-FFF2-40B4-BE49-F238E27FC236}">
                <a16:creationId xmlns:a16="http://schemas.microsoft.com/office/drawing/2014/main" id="{98745B91-9D1D-2EFF-F5AB-0353C51F2D27}"/>
              </a:ext>
            </a:extLst>
          </p:cNvPr>
          <p:cNvSpPr>
            <a:spLocks noGrp="1"/>
          </p:cNvSpPr>
          <p:nvPr>
            <p:ph idx="1"/>
          </p:nvPr>
        </p:nvSpPr>
        <p:spPr>
          <a:xfrm>
            <a:off x="603250" y="1189042"/>
            <a:ext cx="10985500" cy="4525958"/>
          </a:xfrm>
        </p:spPr>
        <p:txBody>
          <a:bodyPr>
            <a:normAutofit/>
          </a:bodyPr>
          <a:lstStyle/>
          <a:p>
            <a:pPr>
              <a:lnSpc>
                <a:spcPct val="120000"/>
              </a:lnSpc>
              <a:spcBef>
                <a:spcPts val="1200"/>
              </a:spcBef>
            </a:pPr>
            <a:r>
              <a:rPr lang="en-US" dirty="0"/>
              <a:t>United States 	U.S. National Spatial Data Infrastructure</a:t>
            </a:r>
          </a:p>
          <a:p>
            <a:pPr>
              <a:lnSpc>
                <a:spcPct val="120000"/>
              </a:lnSpc>
              <a:spcBef>
                <a:spcPts val="1200"/>
              </a:spcBef>
            </a:pPr>
            <a:r>
              <a:rPr lang="en-US" dirty="0"/>
              <a:t>Europe 	The European INSPIRE initiative</a:t>
            </a:r>
          </a:p>
          <a:p>
            <a:pPr>
              <a:lnSpc>
                <a:spcPct val="120000"/>
              </a:lnSpc>
              <a:spcBef>
                <a:spcPts val="1200"/>
              </a:spcBef>
            </a:pPr>
            <a:r>
              <a:rPr lang="en-US" dirty="0"/>
              <a:t>United Nations 	The United Nations Spatial Data Infrastructure (UNSDI)</a:t>
            </a:r>
          </a:p>
          <a:p>
            <a:pPr>
              <a:lnSpc>
                <a:spcPct val="120000"/>
              </a:lnSpc>
              <a:spcBef>
                <a:spcPts val="1200"/>
              </a:spcBef>
            </a:pPr>
            <a:r>
              <a:rPr lang="pt-BR" dirty="0"/>
              <a:t>Canada 	Canadian Geospatial Data Infrastructure</a:t>
            </a:r>
          </a:p>
          <a:p>
            <a:pPr>
              <a:lnSpc>
                <a:spcPct val="120000"/>
              </a:lnSpc>
              <a:spcBef>
                <a:spcPts val="1200"/>
              </a:spcBef>
            </a:pPr>
            <a:r>
              <a:rPr lang="en-US" dirty="0"/>
              <a:t>Australia 	Australian Spatial Data Infrastructure</a:t>
            </a:r>
          </a:p>
          <a:p>
            <a:pPr>
              <a:lnSpc>
                <a:spcPct val="120000"/>
              </a:lnSpc>
              <a:spcBef>
                <a:spcPts val="1200"/>
              </a:spcBef>
            </a:pPr>
            <a:r>
              <a:rPr lang="it-IT" dirty="0"/>
              <a:t>Andorra 	Andorran Spatial Data Infrastructure </a:t>
            </a:r>
          </a:p>
          <a:p>
            <a:pPr>
              <a:lnSpc>
                <a:spcPct val="120000"/>
              </a:lnSpc>
              <a:spcBef>
                <a:spcPts val="1200"/>
              </a:spcBef>
            </a:pPr>
            <a:r>
              <a:rPr lang="it-IT" dirty="0"/>
              <a:t>Multi-national	</a:t>
            </a:r>
            <a:r>
              <a:rPr lang="en-US" dirty="0"/>
              <a:t>Arctic SDI (</a:t>
            </a:r>
            <a:r>
              <a:rPr lang="en-US" dirty="0">
                <a:hlinkClick r:id="rId2"/>
              </a:rPr>
              <a:t>https://arctic-sdi.org/</a:t>
            </a:r>
            <a:r>
              <a:rPr lang="en-US" dirty="0"/>
              <a:t>)</a:t>
            </a:r>
          </a:p>
          <a:p>
            <a:pPr lvl="1">
              <a:lnSpc>
                <a:spcPct val="120000"/>
              </a:lnSpc>
              <a:spcBef>
                <a:spcPts val="1200"/>
              </a:spcBef>
            </a:pPr>
            <a:endParaRPr lang="en-US" dirty="0"/>
          </a:p>
          <a:p>
            <a:endParaRPr lang="en-US" dirty="0"/>
          </a:p>
        </p:txBody>
      </p:sp>
    </p:spTree>
    <p:extLst>
      <p:ext uri="{BB962C8B-B14F-4D97-AF65-F5344CB8AC3E}">
        <p14:creationId xmlns:p14="http://schemas.microsoft.com/office/powerpoint/2010/main" val="1355513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B8991-F66A-06DB-AC61-EABBDCD2CB45}"/>
              </a:ext>
            </a:extLst>
          </p:cNvPr>
          <p:cNvSpPr>
            <a:spLocks noGrp="1"/>
          </p:cNvSpPr>
          <p:nvPr>
            <p:ph type="title"/>
          </p:nvPr>
        </p:nvSpPr>
        <p:spPr/>
        <p:txBody>
          <a:bodyPr/>
          <a:lstStyle/>
          <a:p>
            <a:r>
              <a:rPr lang="en-US" dirty="0"/>
              <a:t>Therefore ---</a:t>
            </a:r>
          </a:p>
        </p:txBody>
      </p:sp>
      <p:sp>
        <p:nvSpPr>
          <p:cNvPr id="3" name="Content Placeholder 2">
            <a:extLst>
              <a:ext uri="{FF2B5EF4-FFF2-40B4-BE49-F238E27FC236}">
                <a16:creationId xmlns:a16="http://schemas.microsoft.com/office/drawing/2014/main" id="{78BB9F57-746E-16F1-5E6E-1637F7203987}"/>
              </a:ext>
            </a:extLst>
          </p:cNvPr>
          <p:cNvSpPr>
            <a:spLocks noGrp="1"/>
          </p:cNvSpPr>
          <p:nvPr>
            <p:ph idx="1"/>
          </p:nvPr>
        </p:nvSpPr>
        <p:spPr>
          <a:xfrm>
            <a:off x="603250" y="1192832"/>
            <a:ext cx="10985500" cy="4128006"/>
          </a:xfrm>
        </p:spPr>
        <p:txBody>
          <a:bodyPr/>
          <a:lstStyle/>
          <a:p>
            <a:pPr>
              <a:lnSpc>
                <a:spcPct val="100000"/>
              </a:lnSpc>
              <a:spcBef>
                <a:spcPts val="1200"/>
              </a:spcBef>
            </a:pPr>
            <a:r>
              <a:rPr lang="en-US" dirty="0"/>
              <a:t>The Space Domain can be a collection of Spatial Data Infrastructures</a:t>
            </a:r>
          </a:p>
          <a:p>
            <a:pPr>
              <a:lnSpc>
                <a:spcPct val="100000"/>
              </a:lnSpc>
              <a:spcBef>
                <a:spcPts val="1200"/>
              </a:spcBef>
            </a:pPr>
            <a:r>
              <a:rPr lang="en-US" dirty="0"/>
              <a:t>Those SDIs could include:</a:t>
            </a:r>
          </a:p>
          <a:p>
            <a:pPr lvl="1">
              <a:lnSpc>
                <a:spcPct val="100000"/>
              </a:lnSpc>
              <a:spcBef>
                <a:spcPts val="1200"/>
              </a:spcBef>
            </a:pPr>
            <a:r>
              <a:rPr lang="en-US" dirty="0"/>
              <a:t>Lunar SDI</a:t>
            </a:r>
          </a:p>
          <a:p>
            <a:pPr lvl="1">
              <a:lnSpc>
                <a:spcPct val="100000"/>
              </a:lnSpc>
              <a:spcBef>
                <a:spcPts val="1200"/>
              </a:spcBef>
            </a:pPr>
            <a:r>
              <a:rPr lang="en-US" dirty="0"/>
              <a:t>Martian SDI</a:t>
            </a:r>
          </a:p>
          <a:p>
            <a:pPr lvl="1">
              <a:lnSpc>
                <a:spcPct val="100000"/>
              </a:lnSpc>
              <a:spcBef>
                <a:spcPts val="1200"/>
              </a:spcBef>
            </a:pPr>
            <a:r>
              <a:rPr lang="en-US" dirty="0"/>
              <a:t>CIS Lunar SDI</a:t>
            </a:r>
          </a:p>
          <a:p>
            <a:pPr lvl="1">
              <a:lnSpc>
                <a:spcPct val="100000"/>
              </a:lnSpc>
              <a:spcBef>
                <a:spcPts val="1200"/>
              </a:spcBef>
            </a:pPr>
            <a:r>
              <a:rPr lang="en-US" dirty="0"/>
              <a:t>Deep Space SDI</a:t>
            </a:r>
          </a:p>
          <a:p>
            <a:pPr>
              <a:lnSpc>
                <a:spcPct val="100000"/>
              </a:lnSpc>
              <a:spcBef>
                <a:spcPts val="1200"/>
              </a:spcBef>
            </a:pPr>
            <a:r>
              <a:rPr lang="en-US" dirty="0"/>
              <a:t>A more focused view of the Space Domain will make it easier to identify appropriate problems and solutions.</a:t>
            </a:r>
          </a:p>
        </p:txBody>
      </p:sp>
    </p:spTree>
    <p:extLst>
      <p:ext uri="{BB962C8B-B14F-4D97-AF65-F5344CB8AC3E}">
        <p14:creationId xmlns:p14="http://schemas.microsoft.com/office/powerpoint/2010/main" val="1856876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39A09-1E24-AA8A-61D2-082876923F22}"/>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408918961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B166-4778-57A2-750F-4062EE0A8FA7}"/>
              </a:ext>
            </a:extLst>
          </p:cNvPr>
          <p:cNvSpPr>
            <a:spLocks noGrp="1"/>
          </p:cNvSpPr>
          <p:nvPr>
            <p:ph type="title"/>
          </p:nvPr>
        </p:nvSpPr>
        <p:spPr/>
        <p:txBody>
          <a:bodyPr/>
          <a:lstStyle/>
          <a:p>
            <a:r>
              <a:rPr lang="en-US" dirty="0"/>
              <a:t>Lunar SDI</a:t>
            </a:r>
          </a:p>
        </p:txBody>
      </p:sp>
      <p:sp>
        <p:nvSpPr>
          <p:cNvPr id="3" name="Content Placeholder 2">
            <a:extLst>
              <a:ext uri="{FF2B5EF4-FFF2-40B4-BE49-F238E27FC236}">
                <a16:creationId xmlns:a16="http://schemas.microsoft.com/office/drawing/2014/main" id="{99A2A10D-2D99-5671-5151-5ECE09A4A2FC}"/>
              </a:ext>
            </a:extLst>
          </p:cNvPr>
          <p:cNvSpPr>
            <a:spLocks noGrp="1"/>
          </p:cNvSpPr>
          <p:nvPr>
            <p:ph idx="1"/>
          </p:nvPr>
        </p:nvSpPr>
        <p:spPr>
          <a:xfrm>
            <a:off x="603250" y="1192832"/>
            <a:ext cx="10985500" cy="4128006"/>
          </a:xfrm>
        </p:spPr>
        <p:txBody>
          <a:bodyPr>
            <a:normAutofit fontScale="92500" lnSpcReduction="10000"/>
          </a:bodyPr>
          <a:lstStyle/>
          <a:p>
            <a:pPr>
              <a:lnSpc>
                <a:spcPct val="120000"/>
              </a:lnSpc>
              <a:spcBef>
                <a:spcPts val="1200"/>
              </a:spcBef>
            </a:pPr>
            <a:r>
              <a:rPr lang="en-US" dirty="0"/>
              <a:t>Addresses activities on or beneath the surface of the Moon.</a:t>
            </a:r>
          </a:p>
          <a:p>
            <a:pPr>
              <a:lnSpc>
                <a:spcPct val="120000"/>
              </a:lnSpc>
              <a:spcBef>
                <a:spcPts val="1200"/>
              </a:spcBef>
            </a:pPr>
            <a:r>
              <a:rPr lang="en-US" dirty="0"/>
              <a:t>May include some activities in Lunar orbit</a:t>
            </a:r>
          </a:p>
          <a:p>
            <a:pPr>
              <a:lnSpc>
                <a:spcPct val="120000"/>
              </a:lnSpc>
              <a:spcBef>
                <a:spcPts val="1200"/>
              </a:spcBef>
            </a:pPr>
            <a:r>
              <a:rPr lang="en-US" dirty="0"/>
              <a:t>Requires:</a:t>
            </a:r>
          </a:p>
          <a:p>
            <a:pPr lvl="1">
              <a:lnSpc>
                <a:spcPct val="120000"/>
              </a:lnSpc>
              <a:spcBef>
                <a:spcPts val="1200"/>
              </a:spcBef>
            </a:pPr>
            <a:r>
              <a:rPr lang="en-US" dirty="0"/>
              <a:t>A Lunar equivalent of WGS84.</a:t>
            </a:r>
          </a:p>
          <a:p>
            <a:pPr lvl="1">
              <a:lnSpc>
                <a:spcPct val="120000"/>
              </a:lnSpc>
              <a:spcBef>
                <a:spcPts val="1200"/>
              </a:spcBef>
            </a:pPr>
            <a:r>
              <a:rPr lang="en-US" dirty="0"/>
              <a:t>A GPS equivalent.</a:t>
            </a:r>
          </a:p>
          <a:p>
            <a:pPr lvl="1">
              <a:lnSpc>
                <a:spcPct val="120000"/>
              </a:lnSpc>
              <a:spcBef>
                <a:spcPts val="1200"/>
              </a:spcBef>
            </a:pPr>
            <a:r>
              <a:rPr lang="en-US" dirty="0"/>
              <a:t>A Lunar calendar and standard for time-of-day.</a:t>
            </a:r>
          </a:p>
          <a:p>
            <a:pPr lvl="1">
              <a:lnSpc>
                <a:spcPct val="120000"/>
              </a:lnSpc>
              <a:spcBef>
                <a:spcPts val="1200"/>
              </a:spcBef>
            </a:pPr>
            <a:r>
              <a:rPr lang="en-US" dirty="0"/>
              <a:t>Lunar-Terrestrial coordinate transformations as a function of time.</a:t>
            </a:r>
          </a:p>
          <a:p>
            <a:pPr lvl="1">
              <a:lnSpc>
                <a:spcPct val="120000"/>
              </a:lnSpc>
              <a:spcBef>
                <a:spcPts val="1200"/>
              </a:spcBef>
            </a:pPr>
            <a:r>
              <a:rPr lang="en-US" dirty="0"/>
              <a:t>&lt;and others&gt;</a:t>
            </a:r>
          </a:p>
        </p:txBody>
      </p:sp>
    </p:spTree>
    <p:extLst>
      <p:ext uri="{BB962C8B-B14F-4D97-AF65-F5344CB8AC3E}">
        <p14:creationId xmlns:p14="http://schemas.microsoft.com/office/powerpoint/2010/main" val="2706693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B166-4778-57A2-750F-4062EE0A8FA7}"/>
              </a:ext>
            </a:extLst>
          </p:cNvPr>
          <p:cNvSpPr>
            <a:spLocks noGrp="1"/>
          </p:cNvSpPr>
          <p:nvPr>
            <p:ph type="title"/>
          </p:nvPr>
        </p:nvSpPr>
        <p:spPr/>
        <p:txBody>
          <a:bodyPr/>
          <a:lstStyle/>
          <a:p>
            <a:r>
              <a:rPr lang="en-US" dirty="0"/>
              <a:t>Martian SDI</a:t>
            </a:r>
          </a:p>
        </p:txBody>
      </p:sp>
      <p:sp>
        <p:nvSpPr>
          <p:cNvPr id="3" name="Content Placeholder 2">
            <a:extLst>
              <a:ext uri="{FF2B5EF4-FFF2-40B4-BE49-F238E27FC236}">
                <a16:creationId xmlns:a16="http://schemas.microsoft.com/office/drawing/2014/main" id="{99A2A10D-2D99-5671-5151-5ECE09A4A2FC}"/>
              </a:ext>
            </a:extLst>
          </p:cNvPr>
          <p:cNvSpPr>
            <a:spLocks noGrp="1"/>
          </p:cNvSpPr>
          <p:nvPr>
            <p:ph idx="1"/>
          </p:nvPr>
        </p:nvSpPr>
        <p:spPr>
          <a:xfrm>
            <a:off x="603250" y="1192831"/>
            <a:ext cx="10985500" cy="5072501"/>
          </a:xfrm>
        </p:spPr>
        <p:txBody>
          <a:bodyPr>
            <a:normAutofit/>
          </a:bodyPr>
          <a:lstStyle/>
          <a:p>
            <a:pPr>
              <a:lnSpc>
                <a:spcPct val="120000"/>
              </a:lnSpc>
              <a:spcBef>
                <a:spcPts val="1200"/>
              </a:spcBef>
            </a:pPr>
            <a:r>
              <a:rPr lang="en-US" sz="2000" dirty="0"/>
              <a:t>Addresses activities on or beneath the surface of the Mars.</a:t>
            </a:r>
          </a:p>
          <a:p>
            <a:pPr>
              <a:lnSpc>
                <a:spcPct val="120000"/>
              </a:lnSpc>
              <a:spcBef>
                <a:spcPts val="1200"/>
              </a:spcBef>
            </a:pPr>
            <a:r>
              <a:rPr lang="en-US" sz="2000" dirty="0"/>
              <a:t>May include some activities in Martian orbit</a:t>
            </a:r>
          </a:p>
          <a:p>
            <a:pPr>
              <a:lnSpc>
                <a:spcPct val="120000"/>
              </a:lnSpc>
              <a:spcBef>
                <a:spcPts val="1200"/>
              </a:spcBef>
            </a:pPr>
            <a:r>
              <a:rPr lang="en-US" sz="2000" dirty="0"/>
              <a:t>Requires:</a:t>
            </a:r>
          </a:p>
          <a:p>
            <a:pPr lvl="1">
              <a:lnSpc>
                <a:spcPct val="120000"/>
              </a:lnSpc>
              <a:spcBef>
                <a:spcPts val="1200"/>
              </a:spcBef>
            </a:pPr>
            <a:r>
              <a:rPr lang="en-US" sz="1800" dirty="0"/>
              <a:t>A Martian equivalent of WGS84.</a:t>
            </a:r>
          </a:p>
          <a:p>
            <a:pPr lvl="1">
              <a:lnSpc>
                <a:spcPct val="120000"/>
              </a:lnSpc>
              <a:spcBef>
                <a:spcPts val="1200"/>
              </a:spcBef>
            </a:pPr>
            <a:r>
              <a:rPr lang="en-US" sz="1800" dirty="0"/>
              <a:t>A GPS equivalent.</a:t>
            </a:r>
          </a:p>
          <a:p>
            <a:pPr lvl="1">
              <a:lnSpc>
                <a:spcPct val="120000"/>
              </a:lnSpc>
              <a:spcBef>
                <a:spcPts val="1200"/>
              </a:spcBef>
            </a:pPr>
            <a:r>
              <a:rPr lang="en-US" sz="1800" dirty="0"/>
              <a:t>A Martian calendar and standard for time-of-day.</a:t>
            </a:r>
          </a:p>
          <a:p>
            <a:pPr lvl="1">
              <a:lnSpc>
                <a:spcPct val="120000"/>
              </a:lnSpc>
              <a:spcBef>
                <a:spcPts val="1200"/>
              </a:spcBef>
            </a:pPr>
            <a:r>
              <a:rPr lang="en-US" sz="1800" dirty="0"/>
              <a:t>Martian-Terrestrial coordinate transformations as a function of time.</a:t>
            </a:r>
          </a:p>
          <a:p>
            <a:pPr lvl="1">
              <a:lnSpc>
                <a:spcPct val="120000"/>
              </a:lnSpc>
              <a:spcBef>
                <a:spcPts val="1200"/>
              </a:spcBef>
            </a:pPr>
            <a:r>
              <a:rPr lang="en-US" sz="1800" dirty="0"/>
              <a:t>Martian-Lunar coordinate transformations as a function of time.</a:t>
            </a:r>
          </a:p>
          <a:p>
            <a:pPr lvl="1">
              <a:lnSpc>
                <a:spcPct val="120000"/>
              </a:lnSpc>
              <a:spcBef>
                <a:spcPts val="1200"/>
              </a:spcBef>
            </a:pPr>
            <a:r>
              <a:rPr lang="en-US" sz="1800" dirty="0"/>
              <a:t>&lt;and others&gt;</a:t>
            </a:r>
          </a:p>
        </p:txBody>
      </p:sp>
    </p:spTree>
    <p:extLst>
      <p:ext uri="{BB962C8B-B14F-4D97-AF65-F5344CB8AC3E}">
        <p14:creationId xmlns:p14="http://schemas.microsoft.com/office/powerpoint/2010/main" val="4117839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B166-4778-57A2-750F-4062EE0A8FA7}"/>
              </a:ext>
            </a:extLst>
          </p:cNvPr>
          <p:cNvSpPr>
            <a:spLocks noGrp="1"/>
          </p:cNvSpPr>
          <p:nvPr>
            <p:ph type="title"/>
          </p:nvPr>
        </p:nvSpPr>
        <p:spPr/>
        <p:txBody>
          <a:bodyPr/>
          <a:lstStyle/>
          <a:p>
            <a:r>
              <a:rPr lang="en-US" dirty="0"/>
              <a:t>CIS Lunar SDI</a:t>
            </a:r>
          </a:p>
        </p:txBody>
      </p:sp>
      <p:sp>
        <p:nvSpPr>
          <p:cNvPr id="3" name="Content Placeholder 2">
            <a:extLst>
              <a:ext uri="{FF2B5EF4-FFF2-40B4-BE49-F238E27FC236}">
                <a16:creationId xmlns:a16="http://schemas.microsoft.com/office/drawing/2014/main" id="{99A2A10D-2D99-5671-5151-5ECE09A4A2FC}"/>
              </a:ext>
            </a:extLst>
          </p:cNvPr>
          <p:cNvSpPr>
            <a:spLocks noGrp="1"/>
          </p:cNvSpPr>
          <p:nvPr>
            <p:ph idx="1"/>
          </p:nvPr>
        </p:nvSpPr>
        <p:spPr>
          <a:xfrm>
            <a:off x="603250" y="1192832"/>
            <a:ext cx="10985500" cy="4128006"/>
          </a:xfrm>
        </p:spPr>
        <p:txBody>
          <a:bodyPr>
            <a:normAutofit/>
          </a:bodyPr>
          <a:lstStyle/>
          <a:p>
            <a:pPr>
              <a:lnSpc>
                <a:spcPct val="120000"/>
              </a:lnSpc>
              <a:spcBef>
                <a:spcPts val="1200"/>
              </a:spcBef>
            </a:pPr>
            <a:r>
              <a:rPr lang="en-US" dirty="0"/>
              <a:t>Addresses activities within the area of deep space under the gravitational influence of the earth-moon system.</a:t>
            </a:r>
          </a:p>
          <a:p>
            <a:pPr>
              <a:lnSpc>
                <a:spcPct val="120000"/>
              </a:lnSpc>
              <a:spcBef>
                <a:spcPts val="1200"/>
              </a:spcBef>
            </a:pPr>
            <a:r>
              <a:rPr lang="en-US" dirty="0"/>
              <a:t>Requires:</a:t>
            </a:r>
          </a:p>
          <a:p>
            <a:pPr lvl="1">
              <a:lnSpc>
                <a:spcPct val="120000"/>
              </a:lnSpc>
              <a:spcBef>
                <a:spcPts val="1200"/>
              </a:spcBef>
            </a:pPr>
            <a:r>
              <a:rPr lang="en-US" dirty="0"/>
              <a:t>A Lunar equivalent of WGS84.</a:t>
            </a:r>
          </a:p>
          <a:p>
            <a:pPr lvl="1">
              <a:lnSpc>
                <a:spcPct val="120000"/>
              </a:lnSpc>
              <a:spcBef>
                <a:spcPts val="1200"/>
              </a:spcBef>
            </a:pPr>
            <a:r>
              <a:rPr lang="en-US" dirty="0"/>
              <a:t>Lunar-Terrestrial coordinate transformations as a function of time.</a:t>
            </a:r>
          </a:p>
          <a:p>
            <a:pPr lvl="1">
              <a:lnSpc>
                <a:spcPct val="120000"/>
              </a:lnSpc>
              <a:spcBef>
                <a:spcPts val="1200"/>
              </a:spcBef>
            </a:pPr>
            <a:r>
              <a:rPr lang="en-US" dirty="0"/>
              <a:t>&lt;and others&gt;</a:t>
            </a:r>
          </a:p>
        </p:txBody>
      </p:sp>
    </p:spTree>
    <p:extLst>
      <p:ext uri="{BB962C8B-B14F-4D97-AF65-F5344CB8AC3E}">
        <p14:creationId xmlns:p14="http://schemas.microsoft.com/office/powerpoint/2010/main" val="1215753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EB166-4778-57A2-750F-4062EE0A8FA7}"/>
              </a:ext>
            </a:extLst>
          </p:cNvPr>
          <p:cNvSpPr>
            <a:spLocks noGrp="1"/>
          </p:cNvSpPr>
          <p:nvPr>
            <p:ph type="title"/>
          </p:nvPr>
        </p:nvSpPr>
        <p:spPr/>
        <p:txBody>
          <a:bodyPr/>
          <a:lstStyle/>
          <a:p>
            <a:r>
              <a:rPr lang="en-US" dirty="0"/>
              <a:t>Deep Space SDI</a:t>
            </a:r>
          </a:p>
        </p:txBody>
      </p:sp>
      <p:sp>
        <p:nvSpPr>
          <p:cNvPr id="3" name="Content Placeholder 2">
            <a:extLst>
              <a:ext uri="{FF2B5EF4-FFF2-40B4-BE49-F238E27FC236}">
                <a16:creationId xmlns:a16="http://schemas.microsoft.com/office/drawing/2014/main" id="{99A2A10D-2D99-5671-5151-5ECE09A4A2FC}"/>
              </a:ext>
            </a:extLst>
          </p:cNvPr>
          <p:cNvSpPr>
            <a:spLocks noGrp="1"/>
          </p:cNvSpPr>
          <p:nvPr>
            <p:ph idx="1"/>
          </p:nvPr>
        </p:nvSpPr>
        <p:spPr>
          <a:xfrm>
            <a:off x="603250" y="1192832"/>
            <a:ext cx="10985500" cy="4128006"/>
          </a:xfrm>
        </p:spPr>
        <p:txBody>
          <a:bodyPr>
            <a:normAutofit/>
          </a:bodyPr>
          <a:lstStyle/>
          <a:p>
            <a:pPr>
              <a:lnSpc>
                <a:spcPct val="120000"/>
              </a:lnSpc>
              <a:spcBef>
                <a:spcPts val="1200"/>
              </a:spcBef>
            </a:pPr>
            <a:r>
              <a:rPr lang="en-US" dirty="0"/>
              <a:t>Addresses activities that are not specific to a single or collection of astronomical bodies.</a:t>
            </a:r>
          </a:p>
          <a:p>
            <a:pPr>
              <a:lnSpc>
                <a:spcPct val="120000"/>
              </a:lnSpc>
              <a:spcBef>
                <a:spcPts val="1200"/>
              </a:spcBef>
            </a:pPr>
            <a:r>
              <a:rPr lang="en-US" dirty="0"/>
              <a:t>Requires:</a:t>
            </a:r>
          </a:p>
          <a:p>
            <a:pPr lvl="1">
              <a:lnSpc>
                <a:spcPct val="120000"/>
              </a:lnSpc>
              <a:spcBef>
                <a:spcPts val="1200"/>
              </a:spcBef>
            </a:pPr>
            <a:r>
              <a:rPr lang="en-US" dirty="0"/>
              <a:t>Coordinate transformations between arbitrary inertial reference frames</a:t>
            </a:r>
          </a:p>
          <a:p>
            <a:pPr lvl="1">
              <a:lnSpc>
                <a:spcPct val="120000"/>
              </a:lnSpc>
              <a:spcBef>
                <a:spcPts val="1200"/>
              </a:spcBef>
            </a:pPr>
            <a:r>
              <a:rPr lang="en-US" dirty="0"/>
              <a:t>Coordinate transformation that account for general and special relativity</a:t>
            </a:r>
          </a:p>
          <a:p>
            <a:pPr lvl="1">
              <a:lnSpc>
                <a:spcPct val="120000"/>
              </a:lnSpc>
              <a:spcBef>
                <a:spcPts val="1200"/>
              </a:spcBef>
            </a:pPr>
            <a:r>
              <a:rPr lang="en-US" dirty="0"/>
              <a:t>&lt;and others&gt;</a:t>
            </a:r>
          </a:p>
        </p:txBody>
      </p:sp>
    </p:spTree>
    <p:extLst>
      <p:ext uri="{BB962C8B-B14F-4D97-AF65-F5344CB8AC3E}">
        <p14:creationId xmlns:p14="http://schemas.microsoft.com/office/powerpoint/2010/main" val="3572307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B3247-84E5-095D-DE20-11D53FB299D1}"/>
              </a:ext>
            </a:extLst>
          </p:cNvPr>
          <p:cNvSpPr>
            <a:spLocks noGrp="1"/>
          </p:cNvSpPr>
          <p:nvPr>
            <p:ph type="title"/>
          </p:nvPr>
        </p:nvSpPr>
        <p:spPr/>
        <p:txBody>
          <a:bodyPr/>
          <a:lstStyle/>
          <a:p>
            <a:r>
              <a:rPr lang="en-US" dirty="0"/>
              <a:t>For Each SDI</a:t>
            </a:r>
          </a:p>
        </p:txBody>
      </p:sp>
      <p:sp>
        <p:nvSpPr>
          <p:cNvPr id="3" name="Content Placeholder 2">
            <a:extLst>
              <a:ext uri="{FF2B5EF4-FFF2-40B4-BE49-F238E27FC236}">
                <a16:creationId xmlns:a16="http://schemas.microsoft.com/office/drawing/2014/main" id="{A4C336AD-5F75-300D-F4F0-A0987063307C}"/>
              </a:ext>
            </a:extLst>
          </p:cNvPr>
          <p:cNvSpPr>
            <a:spLocks noGrp="1"/>
          </p:cNvSpPr>
          <p:nvPr>
            <p:ph idx="1"/>
          </p:nvPr>
        </p:nvSpPr>
        <p:spPr>
          <a:xfrm>
            <a:off x="603250" y="1192832"/>
            <a:ext cx="10985500" cy="4128006"/>
          </a:xfrm>
        </p:spPr>
        <p:txBody>
          <a:bodyPr/>
          <a:lstStyle/>
          <a:p>
            <a:pPr>
              <a:lnSpc>
                <a:spcPct val="100000"/>
              </a:lnSpc>
              <a:spcBef>
                <a:spcPts val="1200"/>
              </a:spcBef>
            </a:pPr>
            <a:r>
              <a:rPr lang="en-US" dirty="0"/>
              <a:t>Identify the applicable missions </a:t>
            </a:r>
          </a:p>
          <a:p>
            <a:pPr>
              <a:lnSpc>
                <a:spcPct val="100000"/>
              </a:lnSpc>
              <a:spcBef>
                <a:spcPts val="1200"/>
              </a:spcBef>
            </a:pPr>
            <a:r>
              <a:rPr lang="en-US" dirty="0"/>
              <a:t>Identify the capabilities needed to execute those missions</a:t>
            </a:r>
          </a:p>
          <a:p>
            <a:pPr>
              <a:lnSpc>
                <a:spcPct val="100000"/>
              </a:lnSpc>
              <a:spcBef>
                <a:spcPts val="1200"/>
              </a:spcBef>
            </a:pPr>
            <a:r>
              <a:rPr lang="en-US" dirty="0"/>
              <a:t>Identify the data and computing resources needed to enable those capabilities (what standards do we need?)</a:t>
            </a:r>
          </a:p>
          <a:p>
            <a:pPr>
              <a:lnSpc>
                <a:spcPct val="100000"/>
              </a:lnSpc>
              <a:spcBef>
                <a:spcPts val="1200"/>
              </a:spcBef>
            </a:pPr>
            <a:r>
              <a:rPr lang="en-US" dirty="0"/>
              <a:t>Identify the constraints that the SDI domain places on potential solutions (how do those standards need to be tailored?)</a:t>
            </a:r>
          </a:p>
          <a:p>
            <a:pPr>
              <a:lnSpc>
                <a:spcPct val="100000"/>
              </a:lnSpc>
              <a:spcBef>
                <a:spcPts val="1200"/>
              </a:spcBef>
            </a:pPr>
            <a:r>
              <a:rPr lang="en-US" dirty="0"/>
              <a:t>Document the standards and standard profiles needed for this SDI</a:t>
            </a:r>
          </a:p>
          <a:p>
            <a:endParaRPr lang="en-US" dirty="0"/>
          </a:p>
        </p:txBody>
      </p:sp>
    </p:spTree>
    <p:extLst>
      <p:ext uri="{BB962C8B-B14F-4D97-AF65-F5344CB8AC3E}">
        <p14:creationId xmlns:p14="http://schemas.microsoft.com/office/powerpoint/2010/main" val="210104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77850-9BE7-46D0-8F3A-31A86151D22C}"/>
              </a:ext>
            </a:extLst>
          </p:cNvPr>
          <p:cNvSpPr>
            <a:spLocks noGrp="1"/>
          </p:cNvSpPr>
          <p:nvPr>
            <p:ph type="title"/>
          </p:nvPr>
        </p:nvSpPr>
        <p:spPr/>
        <p:txBody>
          <a:bodyPr/>
          <a:lstStyle/>
          <a:p>
            <a:r>
              <a:rPr lang="en-US" dirty="0"/>
              <a:t>Some Capabilities and SDIs</a:t>
            </a:r>
          </a:p>
        </p:txBody>
      </p:sp>
      <p:graphicFrame>
        <p:nvGraphicFramePr>
          <p:cNvPr id="4" name="Table 4">
            <a:extLst>
              <a:ext uri="{FF2B5EF4-FFF2-40B4-BE49-F238E27FC236}">
                <a16:creationId xmlns:a16="http://schemas.microsoft.com/office/drawing/2014/main" id="{2F8ABE52-2AD6-5E33-0094-936B7A0EB679}"/>
              </a:ext>
            </a:extLst>
          </p:cNvPr>
          <p:cNvGraphicFramePr>
            <a:graphicFrameLocks noGrp="1"/>
          </p:cNvGraphicFramePr>
          <p:nvPr>
            <p:extLst>
              <p:ext uri="{D42A27DB-BD31-4B8C-83A1-F6EECF244321}">
                <p14:modId xmlns:p14="http://schemas.microsoft.com/office/powerpoint/2010/main" val="4254410176"/>
              </p:ext>
            </p:extLst>
          </p:nvPr>
        </p:nvGraphicFramePr>
        <p:xfrm>
          <a:off x="603249" y="1192831"/>
          <a:ext cx="10985499" cy="4984330"/>
        </p:xfrm>
        <a:graphic>
          <a:graphicData uri="http://schemas.openxmlformats.org/drawingml/2006/table">
            <a:tbl>
              <a:tblPr firstRow="1" bandRow="1">
                <a:tableStyleId>{5C22544A-7EE6-4342-B048-85BDC9FD1C3A}</a:tableStyleId>
              </a:tblPr>
              <a:tblGrid>
                <a:gridCol w="7522016">
                  <a:extLst>
                    <a:ext uri="{9D8B030D-6E8A-4147-A177-3AD203B41FA5}">
                      <a16:colId xmlns:a16="http://schemas.microsoft.com/office/drawing/2014/main" val="1974455343"/>
                    </a:ext>
                  </a:extLst>
                </a:gridCol>
                <a:gridCol w="3463483">
                  <a:extLst>
                    <a:ext uri="{9D8B030D-6E8A-4147-A177-3AD203B41FA5}">
                      <a16:colId xmlns:a16="http://schemas.microsoft.com/office/drawing/2014/main" val="2950777169"/>
                    </a:ext>
                  </a:extLst>
                </a:gridCol>
              </a:tblGrid>
              <a:tr h="525050">
                <a:tc>
                  <a:txBody>
                    <a:bodyPr/>
                    <a:lstStyle/>
                    <a:p>
                      <a:r>
                        <a:rPr lang="en-US" sz="1800" dirty="0"/>
                        <a:t>Capability</a:t>
                      </a:r>
                    </a:p>
                  </a:txBody>
                  <a:tcPr anchor="ctr"/>
                </a:tc>
                <a:tc>
                  <a:txBody>
                    <a:bodyPr/>
                    <a:lstStyle/>
                    <a:p>
                      <a:r>
                        <a:rPr lang="en-US" sz="1800" dirty="0"/>
                        <a:t>SDI</a:t>
                      </a:r>
                    </a:p>
                  </a:txBody>
                  <a:tcPr anchor="ctr"/>
                </a:tc>
                <a:extLst>
                  <a:ext uri="{0D108BD9-81ED-4DB2-BD59-A6C34878D82A}">
                    <a16:rowId xmlns:a16="http://schemas.microsoft.com/office/drawing/2014/main" val="3740814751"/>
                  </a:ext>
                </a:extLst>
              </a:tr>
              <a:tr h="525050">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Mapping, Charting, and Geodesy </a:t>
                      </a:r>
                    </a:p>
                  </a:txBody>
                  <a:tcPr anchor="ctr"/>
                </a:tc>
                <a:tc>
                  <a:txBody>
                    <a:bodyPr/>
                    <a:lstStyle/>
                    <a:p>
                      <a:r>
                        <a:rPr lang="en-US" sz="1800" dirty="0"/>
                        <a:t>Lunar, Martian</a:t>
                      </a:r>
                    </a:p>
                  </a:txBody>
                  <a:tcPr anchor="ctr"/>
                </a:tc>
                <a:extLst>
                  <a:ext uri="{0D108BD9-81ED-4DB2-BD59-A6C34878D82A}">
                    <a16:rowId xmlns:a16="http://schemas.microsoft.com/office/drawing/2014/main" val="2447107107"/>
                  </a:ext>
                </a:extLst>
              </a:tr>
              <a:tr h="525050">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Planning, construction, maintenance, and decommissioning of infrastructure</a:t>
                      </a:r>
                    </a:p>
                  </a:txBody>
                  <a:tcPr anchor="ctr"/>
                </a:tc>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Lunar, Martian, CIS</a:t>
                      </a:r>
                    </a:p>
                  </a:txBody>
                  <a:tcPr anchor="ctr"/>
                </a:tc>
                <a:extLst>
                  <a:ext uri="{0D108BD9-81ED-4DB2-BD59-A6C34878D82A}">
                    <a16:rowId xmlns:a16="http://schemas.microsoft.com/office/drawing/2014/main" val="2348946345"/>
                  </a:ext>
                </a:extLst>
              </a:tr>
              <a:tr h="525050">
                <a:tc>
                  <a:txBody>
                    <a:bodyPr/>
                    <a:lstStyle/>
                    <a:p>
                      <a:r>
                        <a:rPr lang="en-US" sz="1800" dirty="0"/>
                        <a:t>Accurate navigation across the surface of the Moon and Mars.</a:t>
                      </a:r>
                    </a:p>
                  </a:txBody>
                  <a:tcPr anchor="ctr"/>
                </a:tc>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Lunar, Martian</a:t>
                      </a:r>
                    </a:p>
                  </a:txBody>
                  <a:tcPr anchor="ctr"/>
                </a:tc>
                <a:extLst>
                  <a:ext uri="{0D108BD9-81ED-4DB2-BD59-A6C34878D82A}">
                    <a16:rowId xmlns:a16="http://schemas.microsoft.com/office/drawing/2014/main" val="3483877572"/>
                  </a:ext>
                </a:extLst>
              </a:tr>
              <a:tr h="525050">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Space Situational Awareness using Space-based assets.</a:t>
                      </a:r>
                    </a:p>
                  </a:txBody>
                  <a:tcPr anchor="ctr"/>
                </a:tc>
                <a:tc>
                  <a:txBody>
                    <a:bodyPr/>
                    <a:lstStyle/>
                    <a:p>
                      <a:r>
                        <a:rPr lang="en-US" sz="1800" dirty="0"/>
                        <a:t>CIS, Deep Space</a:t>
                      </a:r>
                    </a:p>
                  </a:txBody>
                  <a:tcPr anchor="ctr"/>
                </a:tc>
                <a:extLst>
                  <a:ext uri="{0D108BD9-81ED-4DB2-BD59-A6C34878D82A}">
                    <a16:rowId xmlns:a16="http://schemas.microsoft.com/office/drawing/2014/main" val="3485172501"/>
                  </a:ext>
                </a:extLst>
              </a:tr>
              <a:tr h="668900">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Calculate the current, past, and future locations of a Space object based on gravitational fields, Space weather, and object velocity.</a:t>
                      </a:r>
                    </a:p>
                  </a:txBody>
                  <a:tcPr anchor="ctr"/>
                </a:tc>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CIS, Deep Space</a:t>
                      </a:r>
                    </a:p>
                  </a:txBody>
                  <a:tcPr anchor="ctr"/>
                </a:tc>
                <a:extLst>
                  <a:ext uri="{0D108BD9-81ED-4DB2-BD59-A6C34878D82A}">
                    <a16:rowId xmlns:a16="http://schemas.microsoft.com/office/drawing/2014/main" val="891498066"/>
                  </a:ext>
                </a:extLst>
              </a:tr>
              <a:tr h="525050">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Accurate interplanetary navigation.</a:t>
                      </a:r>
                    </a:p>
                  </a:txBody>
                  <a:tcPr anchor="ctr"/>
                </a:tc>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CIS, Deep Space</a:t>
                      </a:r>
                    </a:p>
                  </a:txBody>
                  <a:tcPr anchor="ctr"/>
                </a:tc>
                <a:extLst>
                  <a:ext uri="{0D108BD9-81ED-4DB2-BD59-A6C34878D82A}">
                    <a16:rowId xmlns:a16="http://schemas.microsoft.com/office/drawing/2014/main" val="3919612030"/>
                  </a:ext>
                </a:extLst>
              </a:tr>
              <a:tr h="525050">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Identification, tracking, and rendezvous of one Space object by another.</a:t>
                      </a:r>
                    </a:p>
                  </a:txBody>
                  <a:tcPr anchor="ctr"/>
                </a:tc>
                <a:tc>
                  <a:txBody>
                    <a:bodyPr/>
                    <a:lstStyle/>
                    <a:p>
                      <a:r>
                        <a:rPr lang="en-US" sz="1800" dirty="0"/>
                        <a:t>Deep Space</a:t>
                      </a:r>
                    </a:p>
                  </a:txBody>
                  <a:tcPr anchor="ctr"/>
                </a:tc>
                <a:extLst>
                  <a:ext uri="{0D108BD9-81ED-4DB2-BD59-A6C34878D82A}">
                    <a16:rowId xmlns:a16="http://schemas.microsoft.com/office/drawing/2014/main" val="960484205"/>
                  </a:ext>
                </a:extLst>
              </a:tr>
              <a:tr h="525050">
                <a:tc>
                  <a:txBody>
                    <a:bodyPr/>
                    <a:lstStyle/>
                    <a:p>
                      <a:pPr marL="0" marR="0" lvl="0" indent="0" algn="ctr" defTabSz="292100" rtl="0" eaLnBrk="1" fontAlgn="auto" latinLnBrk="0" hangingPunct="1">
                        <a:lnSpc>
                          <a:spcPct val="100000"/>
                        </a:lnSpc>
                        <a:spcBef>
                          <a:spcPts val="0"/>
                        </a:spcBef>
                        <a:spcAft>
                          <a:spcPts val="0"/>
                        </a:spcAft>
                        <a:buClrTx/>
                        <a:buSzTx/>
                        <a:buFontTx/>
                        <a:buNone/>
                        <a:tabLst/>
                        <a:defRPr/>
                      </a:pPr>
                      <a:r>
                        <a:rPr lang="en-US" sz="1800" dirty="0"/>
                        <a:t>Non-Terrestrial comms.</a:t>
                      </a:r>
                    </a:p>
                  </a:txBody>
                  <a:tcPr anchor="ctr"/>
                </a:tc>
                <a:tc>
                  <a:txBody>
                    <a:bodyPr/>
                    <a:lstStyle/>
                    <a:p>
                      <a:r>
                        <a:rPr lang="en-US" sz="1800" dirty="0"/>
                        <a:t>CIS, Deep Space</a:t>
                      </a:r>
                    </a:p>
                  </a:txBody>
                  <a:tcPr anchor="ctr"/>
                </a:tc>
                <a:extLst>
                  <a:ext uri="{0D108BD9-81ED-4DB2-BD59-A6C34878D82A}">
                    <a16:rowId xmlns:a16="http://schemas.microsoft.com/office/drawing/2014/main" val="1227703093"/>
                  </a:ext>
                </a:extLst>
              </a:tr>
            </a:tbl>
          </a:graphicData>
        </a:graphic>
      </p:graphicFrame>
    </p:spTree>
    <p:extLst>
      <p:ext uri="{BB962C8B-B14F-4D97-AF65-F5344CB8AC3E}">
        <p14:creationId xmlns:p14="http://schemas.microsoft.com/office/powerpoint/2010/main" val="2528196150"/>
      </p:ext>
    </p:extLst>
  </p:cSld>
  <p:clrMapOvr>
    <a:masterClrMapping/>
  </p:clrMapOvr>
  <p:transition spd="med"/>
</p:sld>
</file>

<file path=ppt/theme/theme1.xml><?xml version="1.0" encoding="utf-8"?>
<a:theme xmlns:a="http://schemas.openxmlformats.org/drawingml/2006/main" name="30_BasicColor">
  <a:themeElements>
    <a:clrScheme name="30_BasicColor">
      <a:dk1>
        <a:srgbClr val="262626"/>
      </a:dk1>
      <a:lt1>
        <a:srgbClr val="003462"/>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30_BasicColor">
      <a:majorFont>
        <a:latin typeface="Arial"/>
        <a:ea typeface="Arial"/>
        <a:cs typeface="Arial"/>
      </a:majorFont>
      <a:minorFont>
        <a:latin typeface="Arial"/>
        <a:ea typeface="Arial"/>
        <a:cs typeface="Arial"/>
      </a:minorFont>
    </a:fontScheme>
    <a:fmtScheme name="30_BasicCol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262626"/>
            </a:solidFill>
            <a:effectLst/>
            <a:uFillTx/>
            <a:latin typeface="Mont Book"/>
            <a:ea typeface="Mont Book"/>
            <a:cs typeface="Mont Book"/>
            <a:sym typeface="Mont Book"/>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1735</TotalTime>
  <Words>2076</Words>
  <Application>Microsoft Office PowerPoint</Application>
  <PresentationFormat>Widescreen</PresentationFormat>
  <Paragraphs>197</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Helvetica Neue</vt:lpstr>
      <vt:lpstr>Helvetica Neue Medium</vt:lpstr>
      <vt:lpstr>Lato</vt:lpstr>
      <vt:lpstr>Mont Book</vt:lpstr>
      <vt:lpstr>Mont SemiBold</vt:lpstr>
      <vt:lpstr>30_BasicColor</vt:lpstr>
      <vt:lpstr>Space Standards </vt:lpstr>
      <vt:lpstr>What is an OGC Testbed?</vt:lpstr>
      <vt:lpstr>Space Related OGC Testbeds</vt:lpstr>
      <vt:lpstr>TB 18 Moving Features and Sensor Integration</vt:lpstr>
      <vt:lpstr>Previous Work, Current Scope, Scenario</vt:lpstr>
      <vt:lpstr>Findings &amp; Results</vt:lpstr>
      <vt:lpstr>TB 18 3D+</vt:lpstr>
      <vt:lpstr>Previous Work, Current Scope, Scenario</vt:lpstr>
      <vt:lpstr>Findings &amp; Results</vt:lpstr>
      <vt:lpstr>Testbed 18 - Conclusions</vt:lpstr>
      <vt:lpstr>Testbed 19</vt:lpstr>
      <vt:lpstr>Testbed 19</vt:lpstr>
      <vt:lpstr>Going Forward</vt:lpstr>
      <vt:lpstr>Introduction to SDI</vt:lpstr>
      <vt:lpstr>Some SDIs</vt:lpstr>
      <vt:lpstr>Therefore ---</vt:lpstr>
      <vt:lpstr>Thank You</vt:lpstr>
      <vt:lpstr>Lunar SDI</vt:lpstr>
      <vt:lpstr>Martian SDI</vt:lpstr>
      <vt:lpstr>CIS Lunar SDI</vt:lpstr>
      <vt:lpstr>Deep Space SDI</vt:lpstr>
      <vt:lpstr>For Each SDI</vt:lpstr>
      <vt:lpstr>Some Capabilities and SDIs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Charles Heazel</dc:creator>
  <cp:lastModifiedBy>Charles Heazel</cp:lastModifiedBy>
  <cp:revision>17</cp:revision>
  <dcterms:created xsi:type="dcterms:W3CDTF">2023-07-10T14:02:28Z</dcterms:created>
  <dcterms:modified xsi:type="dcterms:W3CDTF">2023-07-21T23:21:44Z</dcterms:modified>
</cp:coreProperties>
</file>